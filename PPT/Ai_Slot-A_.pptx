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9" r:id="rId4"/>
    <p:sldId id="260" r:id="rId5"/>
    <p:sldId id="262" r:id="rId6"/>
    <p:sldId id="264" r:id="rId7"/>
    <p:sldId id="270" r:id="rId8"/>
    <p:sldId id="271" r:id="rId9"/>
    <p:sldId id="267" r:id="rId10"/>
    <p:sldId id="272" r:id="rId11"/>
    <p:sldId id="275" r:id="rId12"/>
    <p:sldId id="276" r:id="rId13"/>
    <p:sldId id="277" r:id="rId14"/>
    <p:sldId id="274"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guex7hpzoRYSMhGFUgY6rCT6Xf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486A13-04E6-4CD7-81AF-F5D1C95289D5}" v="3" dt="2026-08-26T04:27:03.605"/>
  </p1510:revLst>
</p1510:revInfo>
</file>

<file path=ppt/tableStyles.xml><?xml version="1.0" encoding="utf-8"?>
<a:tblStyleLst xmlns:a="http://schemas.openxmlformats.org/drawingml/2006/main" def="{2CDFEEE0-DFF9-4135-B7B5-B99CAEB02A24}">
  <a:tblStyle styleId="{2CDFEEE0-DFF9-4135-B7B5-B99CAEB02A2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esh Karthik" userId="103677abafd6610d" providerId="LiveId" clId="{4C0E4F53-6019-4B72-BA08-41E80FCF9CB9}"/>
    <pc:docChg chg="undo redo custSel addSld delSld modSld">
      <pc:chgData name="Dinesh Karthik" userId="103677abafd6610d" providerId="LiveId" clId="{4C0E4F53-6019-4B72-BA08-41E80FCF9CB9}" dt="2026-08-26T04:35:42.816" v="954" actId="21"/>
      <pc:docMkLst>
        <pc:docMk/>
      </pc:docMkLst>
      <pc:sldChg chg="modSp mod">
        <pc:chgData name="Dinesh Karthik" userId="103677abafd6610d" providerId="LiveId" clId="{4C0E4F53-6019-4B72-BA08-41E80FCF9CB9}" dt="2026-08-26T04:22:29.877" v="843" actId="2711"/>
        <pc:sldMkLst>
          <pc:docMk/>
          <pc:sldMk cId="0" sldId="256"/>
        </pc:sldMkLst>
        <pc:spChg chg="mod">
          <ac:chgData name="Dinesh Karthik" userId="103677abafd6610d" providerId="LiveId" clId="{4C0E4F53-6019-4B72-BA08-41E80FCF9CB9}" dt="2026-08-26T04:21:45.666" v="838" actId="207"/>
          <ac:spMkLst>
            <pc:docMk/>
            <pc:sldMk cId="0" sldId="256"/>
            <ac:spMk id="88" creationId="{00000000-0000-0000-0000-000000000000}"/>
          </ac:spMkLst>
        </pc:spChg>
        <pc:spChg chg="mod">
          <ac:chgData name="Dinesh Karthik" userId="103677abafd6610d" providerId="LiveId" clId="{4C0E4F53-6019-4B72-BA08-41E80FCF9CB9}" dt="2026-08-26T04:22:12.674" v="841" actId="2711"/>
          <ac:spMkLst>
            <pc:docMk/>
            <pc:sldMk cId="0" sldId="256"/>
            <ac:spMk id="89" creationId="{00000000-0000-0000-0000-000000000000}"/>
          </ac:spMkLst>
        </pc:spChg>
        <pc:spChg chg="mod">
          <ac:chgData name="Dinesh Karthik" userId="103677abafd6610d" providerId="LiveId" clId="{4C0E4F53-6019-4B72-BA08-41E80FCF9CB9}" dt="2026-08-26T04:22:21.764" v="842" actId="2711"/>
          <ac:spMkLst>
            <pc:docMk/>
            <pc:sldMk cId="0" sldId="256"/>
            <ac:spMk id="92" creationId="{00000000-0000-0000-0000-000000000000}"/>
          </ac:spMkLst>
        </pc:spChg>
        <pc:spChg chg="mod">
          <ac:chgData name="Dinesh Karthik" userId="103677abafd6610d" providerId="LiveId" clId="{4C0E4F53-6019-4B72-BA08-41E80FCF9CB9}" dt="2026-08-26T04:22:29.877" v="843" actId="2711"/>
          <ac:spMkLst>
            <pc:docMk/>
            <pc:sldMk cId="0" sldId="256"/>
            <ac:spMk id="93" creationId="{00000000-0000-0000-0000-000000000000}"/>
          </ac:spMkLst>
        </pc:spChg>
      </pc:sldChg>
      <pc:sldChg chg="modSp mod">
        <pc:chgData name="Dinesh Karthik" userId="103677abafd6610d" providerId="LiveId" clId="{4C0E4F53-6019-4B72-BA08-41E80FCF9CB9}" dt="2026-08-26T04:22:49.713" v="845" actId="2711"/>
        <pc:sldMkLst>
          <pc:docMk/>
          <pc:sldMk cId="0" sldId="257"/>
        </pc:sldMkLst>
        <pc:spChg chg="mod">
          <ac:chgData name="Dinesh Karthik" userId="103677abafd6610d" providerId="LiveId" clId="{4C0E4F53-6019-4B72-BA08-41E80FCF9CB9}" dt="2026-08-26T04:22:39.441" v="844" actId="2711"/>
          <ac:spMkLst>
            <pc:docMk/>
            <pc:sldMk cId="0" sldId="257"/>
            <ac:spMk id="98" creationId="{00000000-0000-0000-0000-000000000000}"/>
          </ac:spMkLst>
        </pc:spChg>
        <pc:spChg chg="mod">
          <ac:chgData name="Dinesh Karthik" userId="103677abafd6610d" providerId="LiveId" clId="{4C0E4F53-6019-4B72-BA08-41E80FCF9CB9}" dt="2026-08-26T04:22:49.713" v="845" actId="2711"/>
          <ac:spMkLst>
            <pc:docMk/>
            <pc:sldMk cId="0" sldId="257"/>
            <ac:spMk id="99" creationId="{00000000-0000-0000-0000-000000000000}"/>
          </ac:spMkLst>
        </pc:spChg>
      </pc:sldChg>
      <pc:sldChg chg="modSp del mod">
        <pc:chgData name="Dinesh Karthik" userId="103677abafd6610d" providerId="LiveId" clId="{4C0E4F53-6019-4B72-BA08-41E80FCF9CB9}" dt="2026-08-26T03:08:16.017" v="798" actId="2696"/>
        <pc:sldMkLst>
          <pc:docMk/>
          <pc:sldMk cId="0" sldId="258"/>
        </pc:sldMkLst>
      </pc:sldChg>
      <pc:sldChg chg="modSp mod">
        <pc:chgData name="Dinesh Karthik" userId="103677abafd6610d" providerId="LiveId" clId="{4C0E4F53-6019-4B72-BA08-41E80FCF9CB9}" dt="2026-08-26T04:23:11.046" v="847" actId="2711"/>
        <pc:sldMkLst>
          <pc:docMk/>
          <pc:sldMk cId="0" sldId="259"/>
        </pc:sldMkLst>
        <pc:spChg chg="mod">
          <ac:chgData name="Dinesh Karthik" userId="103677abafd6610d" providerId="LiveId" clId="{4C0E4F53-6019-4B72-BA08-41E80FCF9CB9}" dt="2026-08-26T04:23:01.193" v="846" actId="2711"/>
          <ac:spMkLst>
            <pc:docMk/>
            <pc:sldMk cId="0" sldId="259"/>
            <ac:spMk id="119" creationId="{00000000-0000-0000-0000-000000000000}"/>
          </ac:spMkLst>
        </pc:spChg>
        <pc:spChg chg="mod">
          <ac:chgData name="Dinesh Karthik" userId="103677abafd6610d" providerId="LiveId" clId="{4C0E4F53-6019-4B72-BA08-41E80FCF9CB9}" dt="2026-08-26T04:23:11.046" v="847" actId="2711"/>
          <ac:spMkLst>
            <pc:docMk/>
            <pc:sldMk cId="0" sldId="259"/>
            <ac:spMk id="122" creationId="{00000000-0000-0000-0000-000000000000}"/>
          </ac:spMkLst>
        </pc:spChg>
      </pc:sldChg>
      <pc:sldChg chg="modSp mod">
        <pc:chgData name="Dinesh Karthik" userId="103677abafd6610d" providerId="LiveId" clId="{4C0E4F53-6019-4B72-BA08-41E80FCF9CB9}" dt="2026-08-26T04:23:30.655" v="849" actId="2711"/>
        <pc:sldMkLst>
          <pc:docMk/>
          <pc:sldMk cId="0" sldId="260"/>
        </pc:sldMkLst>
        <pc:spChg chg="mod">
          <ac:chgData name="Dinesh Karthik" userId="103677abafd6610d" providerId="LiveId" clId="{4C0E4F53-6019-4B72-BA08-41E80FCF9CB9}" dt="2026-08-26T04:23:20.630" v="848" actId="2711"/>
          <ac:spMkLst>
            <pc:docMk/>
            <pc:sldMk cId="0" sldId="260"/>
            <ac:spMk id="127" creationId="{00000000-0000-0000-0000-000000000000}"/>
          </ac:spMkLst>
        </pc:spChg>
        <pc:spChg chg="mod">
          <ac:chgData name="Dinesh Karthik" userId="103677abafd6610d" providerId="LiveId" clId="{4C0E4F53-6019-4B72-BA08-41E80FCF9CB9}" dt="2026-08-26T04:23:30.655" v="849" actId="2711"/>
          <ac:spMkLst>
            <pc:docMk/>
            <pc:sldMk cId="0" sldId="260"/>
            <ac:spMk id="130" creationId="{00000000-0000-0000-0000-000000000000}"/>
          </ac:spMkLst>
        </pc:spChg>
      </pc:sldChg>
      <pc:sldChg chg="addSp delSp modSp mod">
        <pc:chgData name="Dinesh Karthik" userId="103677abafd6610d" providerId="LiveId" clId="{4C0E4F53-6019-4B72-BA08-41E80FCF9CB9}" dt="2026-08-26T04:35:42.816" v="954" actId="21"/>
        <pc:sldMkLst>
          <pc:docMk/>
          <pc:sldMk cId="0" sldId="262"/>
        </pc:sldMkLst>
        <pc:spChg chg="add mod">
          <ac:chgData name="Dinesh Karthik" userId="103677abafd6610d" providerId="LiveId" clId="{4C0E4F53-6019-4B72-BA08-41E80FCF9CB9}" dt="2026-08-26T04:28:49.119" v="919" actId="13822"/>
          <ac:spMkLst>
            <pc:docMk/>
            <pc:sldMk cId="0" sldId="262"/>
            <ac:spMk id="2" creationId="{4CAE3F94-AA9C-4653-4F17-3A36A6FD2681}"/>
          </ac:spMkLst>
        </pc:spChg>
        <pc:spChg chg="add del mod">
          <ac:chgData name="Dinesh Karthik" userId="103677abafd6610d" providerId="LiveId" clId="{4C0E4F53-6019-4B72-BA08-41E80FCF9CB9}" dt="2026-08-26T04:16:03.893" v="827" actId="21"/>
          <ac:spMkLst>
            <pc:docMk/>
            <pc:sldMk cId="0" sldId="262"/>
            <ac:spMk id="3" creationId="{384EA829-FA89-27A5-43C1-DDB5992A507B}"/>
          </ac:spMkLst>
        </pc:spChg>
        <pc:spChg chg="add del mod">
          <ac:chgData name="Dinesh Karthik" userId="103677abafd6610d" providerId="LiveId" clId="{4C0E4F53-6019-4B72-BA08-41E80FCF9CB9}" dt="2026-08-26T04:30:15.956" v="946" actId="21"/>
          <ac:spMkLst>
            <pc:docMk/>
            <pc:sldMk cId="0" sldId="262"/>
            <ac:spMk id="4" creationId="{2AF35F66-5C65-00F8-73B0-73CE612900B8}"/>
          </ac:spMkLst>
        </pc:spChg>
        <pc:spChg chg="add del mod">
          <ac:chgData name="Dinesh Karthik" userId="103677abafd6610d" providerId="LiveId" clId="{4C0E4F53-6019-4B72-BA08-41E80FCF9CB9}" dt="2026-08-26T04:30:20.094" v="947" actId="21"/>
          <ac:spMkLst>
            <pc:docMk/>
            <pc:sldMk cId="0" sldId="262"/>
            <ac:spMk id="5" creationId="{C9654598-AB55-E229-07BC-06421D90AC43}"/>
          </ac:spMkLst>
        </pc:spChg>
        <pc:spChg chg="add del mod">
          <ac:chgData name="Dinesh Karthik" userId="103677abafd6610d" providerId="LiveId" clId="{4C0E4F53-6019-4B72-BA08-41E80FCF9CB9}" dt="2026-08-26T04:35:42.816" v="954" actId="21"/>
          <ac:spMkLst>
            <pc:docMk/>
            <pc:sldMk cId="0" sldId="262"/>
            <ac:spMk id="7" creationId="{8624CCE9-BF26-D89E-FBCA-76E2832323C5}"/>
          </ac:spMkLst>
        </pc:spChg>
        <pc:spChg chg="del mod">
          <ac:chgData name="Dinesh Karthik" userId="103677abafd6610d" providerId="LiveId" clId="{4C0E4F53-6019-4B72-BA08-41E80FCF9CB9}" dt="2026-08-26T04:29:58.797" v="943" actId="21"/>
          <ac:spMkLst>
            <pc:docMk/>
            <pc:sldMk cId="0" sldId="262"/>
            <ac:spMk id="143" creationId="{00000000-0000-0000-0000-000000000000}"/>
          </ac:spMkLst>
        </pc:spChg>
        <pc:picChg chg="add mod modCrop">
          <ac:chgData name="Dinesh Karthik" userId="103677abafd6610d" providerId="LiveId" clId="{4C0E4F53-6019-4B72-BA08-41E80FCF9CB9}" dt="2026-08-26T04:35:35.277" v="953" actId="1076"/>
          <ac:picMkLst>
            <pc:docMk/>
            <pc:sldMk cId="0" sldId="262"/>
            <ac:picMk id="9" creationId="{90792438-6DFF-7EDA-CCDF-9FBD408615E7}"/>
          </ac:picMkLst>
        </pc:picChg>
      </pc:sldChg>
      <pc:sldChg chg="addSp delSp modSp mod">
        <pc:chgData name="Dinesh Karthik" userId="103677abafd6610d" providerId="LiveId" clId="{4C0E4F53-6019-4B72-BA08-41E80FCF9CB9}" dt="2026-08-26T04:23:59.307" v="851" actId="2711"/>
        <pc:sldMkLst>
          <pc:docMk/>
          <pc:sldMk cId="0" sldId="264"/>
        </pc:sldMkLst>
        <pc:spChg chg="mod">
          <ac:chgData name="Dinesh Karthik" userId="103677abafd6610d" providerId="LiveId" clId="{4C0E4F53-6019-4B72-BA08-41E80FCF9CB9}" dt="2026-08-26T04:23:49.716" v="850" actId="2711"/>
          <ac:spMkLst>
            <pc:docMk/>
            <pc:sldMk cId="0" sldId="264"/>
            <ac:spMk id="158" creationId="{00000000-0000-0000-0000-000000000000}"/>
          </ac:spMkLst>
        </pc:spChg>
        <pc:spChg chg="mod">
          <ac:chgData name="Dinesh Karthik" userId="103677abafd6610d" providerId="LiveId" clId="{4C0E4F53-6019-4B72-BA08-41E80FCF9CB9}" dt="2026-08-26T04:23:59.307" v="851" actId="2711"/>
          <ac:spMkLst>
            <pc:docMk/>
            <pc:sldMk cId="0" sldId="264"/>
            <ac:spMk id="159" creationId="{00000000-0000-0000-0000-000000000000}"/>
          </ac:spMkLst>
        </pc:spChg>
        <pc:picChg chg="add mod">
          <ac:chgData name="Dinesh Karthik" userId="103677abafd6610d" providerId="LiveId" clId="{4C0E4F53-6019-4B72-BA08-41E80FCF9CB9}" dt="2026-08-06T11:43:31.420" v="621" actId="14100"/>
          <ac:picMkLst>
            <pc:docMk/>
            <pc:sldMk cId="0" sldId="264"/>
            <ac:picMk id="5" creationId="{CA08B534-1AEF-7915-245E-C558FEB906F5}"/>
          </ac:picMkLst>
        </pc:picChg>
      </pc:sldChg>
      <pc:sldChg chg="modSp mod">
        <pc:chgData name="Dinesh Karthik" userId="103677abafd6610d" providerId="LiveId" clId="{4C0E4F53-6019-4B72-BA08-41E80FCF9CB9}" dt="2026-08-26T04:25:12.237" v="857" actId="2711"/>
        <pc:sldMkLst>
          <pc:docMk/>
          <pc:sldMk cId="0" sldId="267"/>
        </pc:sldMkLst>
        <pc:spChg chg="mod">
          <ac:chgData name="Dinesh Karthik" userId="103677abafd6610d" providerId="LiveId" clId="{4C0E4F53-6019-4B72-BA08-41E80FCF9CB9}" dt="2026-08-26T04:24:58.248" v="856" actId="2711"/>
          <ac:spMkLst>
            <pc:docMk/>
            <pc:sldMk cId="0" sldId="267"/>
            <ac:spMk id="180" creationId="{00000000-0000-0000-0000-000000000000}"/>
          </ac:spMkLst>
        </pc:spChg>
        <pc:spChg chg="mod">
          <ac:chgData name="Dinesh Karthik" userId="103677abafd6610d" providerId="LiveId" clId="{4C0E4F53-6019-4B72-BA08-41E80FCF9CB9}" dt="2026-08-26T04:25:12.237" v="857" actId="2711"/>
          <ac:spMkLst>
            <pc:docMk/>
            <pc:sldMk cId="0" sldId="267"/>
            <ac:spMk id="181" creationId="{00000000-0000-0000-0000-000000000000}"/>
          </ac:spMkLst>
        </pc:spChg>
      </pc:sldChg>
      <pc:sldChg chg="addSp modSp mod">
        <pc:chgData name="Dinesh Karthik" userId="103677abafd6610d" providerId="LiveId" clId="{4C0E4F53-6019-4B72-BA08-41E80FCF9CB9}" dt="2026-08-26T04:24:20.209" v="853" actId="2711"/>
        <pc:sldMkLst>
          <pc:docMk/>
          <pc:sldMk cId="0" sldId="270"/>
        </pc:sldMkLst>
        <pc:spChg chg="mod">
          <ac:chgData name="Dinesh Karthik" userId="103677abafd6610d" providerId="LiveId" clId="{4C0E4F53-6019-4B72-BA08-41E80FCF9CB9}" dt="2026-08-26T04:24:13.139" v="852" actId="2711"/>
          <ac:spMkLst>
            <pc:docMk/>
            <pc:sldMk cId="0" sldId="270"/>
            <ac:spMk id="203" creationId="{00000000-0000-0000-0000-000000000000}"/>
          </ac:spMkLst>
        </pc:spChg>
        <pc:spChg chg="mod">
          <ac:chgData name="Dinesh Karthik" userId="103677abafd6610d" providerId="LiveId" clId="{4C0E4F53-6019-4B72-BA08-41E80FCF9CB9}" dt="2026-08-26T04:24:20.209" v="853" actId="2711"/>
          <ac:spMkLst>
            <pc:docMk/>
            <pc:sldMk cId="0" sldId="270"/>
            <ac:spMk id="204" creationId="{00000000-0000-0000-0000-000000000000}"/>
          </ac:spMkLst>
        </pc:spChg>
        <pc:picChg chg="add mod modCrop">
          <ac:chgData name="Dinesh Karthik" userId="103677abafd6610d" providerId="LiveId" clId="{4C0E4F53-6019-4B72-BA08-41E80FCF9CB9}" dt="2026-08-06T11:53:45.800" v="721" actId="14100"/>
          <ac:picMkLst>
            <pc:docMk/>
            <pc:sldMk cId="0" sldId="270"/>
            <ac:picMk id="3" creationId="{856F686D-DA6A-7351-6269-97D1ED63E57E}"/>
          </ac:picMkLst>
        </pc:picChg>
      </pc:sldChg>
      <pc:sldChg chg="addSp modSp mod">
        <pc:chgData name="Dinesh Karthik" userId="103677abafd6610d" providerId="LiveId" clId="{4C0E4F53-6019-4B72-BA08-41E80FCF9CB9}" dt="2026-08-26T04:24:38.339" v="855" actId="2711"/>
        <pc:sldMkLst>
          <pc:docMk/>
          <pc:sldMk cId="0" sldId="271"/>
        </pc:sldMkLst>
        <pc:spChg chg="mod">
          <ac:chgData name="Dinesh Karthik" userId="103677abafd6610d" providerId="LiveId" clId="{4C0E4F53-6019-4B72-BA08-41E80FCF9CB9}" dt="2026-08-26T04:24:31.888" v="854" actId="2711"/>
          <ac:spMkLst>
            <pc:docMk/>
            <pc:sldMk cId="0" sldId="271"/>
            <ac:spMk id="212" creationId="{00000000-0000-0000-0000-000000000000}"/>
          </ac:spMkLst>
        </pc:spChg>
        <pc:spChg chg="mod">
          <ac:chgData name="Dinesh Karthik" userId="103677abafd6610d" providerId="LiveId" clId="{4C0E4F53-6019-4B72-BA08-41E80FCF9CB9}" dt="2026-08-26T04:24:38.339" v="855" actId="2711"/>
          <ac:spMkLst>
            <pc:docMk/>
            <pc:sldMk cId="0" sldId="271"/>
            <ac:spMk id="213" creationId="{00000000-0000-0000-0000-000000000000}"/>
          </ac:spMkLst>
        </pc:spChg>
        <pc:picChg chg="add mod">
          <ac:chgData name="Dinesh Karthik" userId="103677abafd6610d" providerId="LiveId" clId="{4C0E4F53-6019-4B72-BA08-41E80FCF9CB9}" dt="2026-08-06T11:53:19.593" v="718" actId="14100"/>
          <ac:picMkLst>
            <pc:docMk/>
            <pc:sldMk cId="0" sldId="271"/>
            <ac:picMk id="3" creationId="{48902CC8-0AEE-50D9-3450-818462F65996}"/>
          </ac:picMkLst>
        </pc:picChg>
      </pc:sldChg>
      <pc:sldChg chg="modSp mod">
        <pc:chgData name="Dinesh Karthik" userId="103677abafd6610d" providerId="LiveId" clId="{4C0E4F53-6019-4B72-BA08-41E80FCF9CB9}" dt="2026-08-26T04:25:30.119" v="859" actId="2711"/>
        <pc:sldMkLst>
          <pc:docMk/>
          <pc:sldMk cId="0" sldId="272"/>
        </pc:sldMkLst>
        <pc:spChg chg="mod">
          <ac:chgData name="Dinesh Karthik" userId="103677abafd6610d" providerId="LiveId" clId="{4C0E4F53-6019-4B72-BA08-41E80FCF9CB9}" dt="2026-08-26T04:25:21.778" v="858" actId="2711"/>
          <ac:spMkLst>
            <pc:docMk/>
            <pc:sldMk cId="0" sldId="272"/>
            <ac:spMk id="220" creationId="{00000000-0000-0000-0000-000000000000}"/>
          </ac:spMkLst>
        </pc:spChg>
        <pc:spChg chg="mod">
          <ac:chgData name="Dinesh Karthik" userId="103677abafd6610d" providerId="LiveId" clId="{4C0E4F53-6019-4B72-BA08-41E80FCF9CB9}" dt="2026-08-26T04:25:30.119" v="859" actId="2711"/>
          <ac:spMkLst>
            <pc:docMk/>
            <pc:sldMk cId="0" sldId="272"/>
            <ac:spMk id="223" creationId="{00000000-0000-0000-0000-000000000000}"/>
          </ac:spMkLst>
        </pc:spChg>
      </pc:sldChg>
      <pc:sldChg chg="addSp delSp modSp mod">
        <pc:chgData name="Dinesh Karthik" userId="103677abafd6610d" providerId="LiveId" clId="{4C0E4F53-6019-4B72-BA08-41E80FCF9CB9}" dt="2026-08-06T12:07:47.109" v="792" actId="14100"/>
        <pc:sldMkLst>
          <pc:docMk/>
          <pc:sldMk cId="0" sldId="274"/>
        </pc:sldMkLst>
        <pc:spChg chg="mod">
          <ac:chgData name="Dinesh Karthik" userId="103677abafd6610d" providerId="LiveId" clId="{4C0E4F53-6019-4B72-BA08-41E80FCF9CB9}" dt="2026-08-06T12:07:12.500" v="785" actId="20577"/>
          <ac:spMkLst>
            <pc:docMk/>
            <pc:sldMk cId="0" sldId="274"/>
            <ac:spMk id="236" creationId="{00000000-0000-0000-0000-000000000000}"/>
          </ac:spMkLst>
        </pc:spChg>
        <pc:picChg chg="add mod">
          <ac:chgData name="Dinesh Karthik" userId="103677abafd6610d" providerId="LiveId" clId="{4C0E4F53-6019-4B72-BA08-41E80FCF9CB9}" dt="2026-08-06T12:07:47.109" v="792" actId="14100"/>
          <ac:picMkLst>
            <pc:docMk/>
            <pc:sldMk cId="0" sldId="274"/>
            <ac:picMk id="3" creationId="{B2D1C01B-804C-3FAF-DFB2-9A3BC903CC73}"/>
          </ac:picMkLst>
        </pc:picChg>
      </pc:sldChg>
      <pc:sldChg chg="addSp modSp new mod">
        <pc:chgData name="Dinesh Karthik" userId="103677abafd6610d" providerId="LiveId" clId="{4C0E4F53-6019-4B72-BA08-41E80FCF9CB9}" dt="2026-08-26T04:25:48.361" v="861" actId="2711"/>
        <pc:sldMkLst>
          <pc:docMk/>
          <pc:sldMk cId="1372181940" sldId="275"/>
        </pc:sldMkLst>
        <pc:spChg chg="mod">
          <ac:chgData name="Dinesh Karthik" userId="103677abafd6610d" providerId="LiveId" clId="{4C0E4F53-6019-4B72-BA08-41E80FCF9CB9}" dt="2026-08-26T04:25:41.628" v="860" actId="2711"/>
          <ac:spMkLst>
            <pc:docMk/>
            <pc:sldMk cId="1372181940" sldId="275"/>
            <ac:spMk id="2" creationId="{93F4AFBA-E702-E385-8078-500236841FB0}"/>
          </ac:spMkLst>
        </pc:spChg>
        <pc:spChg chg="mod">
          <ac:chgData name="Dinesh Karthik" userId="103677abafd6610d" providerId="LiveId" clId="{4C0E4F53-6019-4B72-BA08-41E80FCF9CB9}" dt="2026-08-26T04:25:48.361" v="861" actId="2711"/>
          <ac:spMkLst>
            <pc:docMk/>
            <pc:sldMk cId="1372181940" sldId="275"/>
            <ac:spMk id="3" creationId="{937657E1-4778-7153-7B67-1FE3EB5B0F4C}"/>
          </ac:spMkLst>
        </pc:spChg>
        <pc:picChg chg="add">
          <ac:chgData name="Dinesh Karthik" userId="103677abafd6610d" providerId="LiveId" clId="{4C0E4F53-6019-4B72-BA08-41E80FCF9CB9}" dt="2026-08-06T11:57:23.069" v="737" actId="22"/>
          <ac:picMkLst>
            <pc:docMk/>
            <pc:sldMk cId="1372181940" sldId="275"/>
            <ac:picMk id="5" creationId="{E519768E-8FAE-A95A-03C3-0B06D1ED3153}"/>
          </ac:picMkLst>
        </pc:picChg>
        <pc:picChg chg="add">
          <ac:chgData name="Dinesh Karthik" userId="103677abafd6610d" providerId="LiveId" clId="{4C0E4F53-6019-4B72-BA08-41E80FCF9CB9}" dt="2026-08-06T11:57:35.547" v="738" actId="22"/>
          <ac:picMkLst>
            <pc:docMk/>
            <pc:sldMk cId="1372181940" sldId="275"/>
            <ac:picMk id="7" creationId="{72A30F8B-C075-5288-2E43-27A363C6E3A9}"/>
          </ac:picMkLst>
        </pc:picChg>
      </pc:sldChg>
      <pc:sldChg chg="addSp modSp new mod">
        <pc:chgData name="Dinesh Karthik" userId="103677abafd6610d" providerId="LiveId" clId="{4C0E4F53-6019-4B72-BA08-41E80FCF9CB9}" dt="2026-08-26T04:26:05.003" v="863" actId="2711"/>
        <pc:sldMkLst>
          <pc:docMk/>
          <pc:sldMk cId="2933454941" sldId="276"/>
        </pc:sldMkLst>
        <pc:spChg chg="mod">
          <ac:chgData name="Dinesh Karthik" userId="103677abafd6610d" providerId="LiveId" clId="{4C0E4F53-6019-4B72-BA08-41E80FCF9CB9}" dt="2026-08-26T04:25:58.833" v="862" actId="2711"/>
          <ac:spMkLst>
            <pc:docMk/>
            <pc:sldMk cId="2933454941" sldId="276"/>
            <ac:spMk id="2" creationId="{15E49618-9BA7-708E-7DCC-8FCAA61332EF}"/>
          </ac:spMkLst>
        </pc:spChg>
        <pc:spChg chg="mod">
          <ac:chgData name="Dinesh Karthik" userId="103677abafd6610d" providerId="LiveId" clId="{4C0E4F53-6019-4B72-BA08-41E80FCF9CB9}" dt="2026-08-26T04:26:05.003" v="863" actId="2711"/>
          <ac:spMkLst>
            <pc:docMk/>
            <pc:sldMk cId="2933454941" sldId="276"/>
            <ac:spMk id="3" creationId="{803844F7-198E-FE21-F365-467F484216E8}"/>
          </ac:spMkLst>
        </pc:spChg>
        <pc:picChg chg="add">
          <ac:chgData name="Dinesh Karthik" userId="103677abafd6610d" providerId="LiveId" clId="{4C0E4F53-6019-4B72-BA08-41E80FCF9CB9}" dt="2026-08-06T12:01:21.599" v="753" actId="22"/>
          <ac:picMkLst>
            <pc:docMk/>
            <pc:sldMk cId="2933454941" sldId="276"/>
            <ac:picMk id="5" creationId="{8E8524DB-C499-B96C-2A9E-3415AD5C299C}"/>
          </ac:picMkLst>
        </pc:picChg>
        <pc:picChg chg="add">
          <ac:chgData name="Dinesh Karthik" userId="103677abafd6610d" providerId="LiveId" clId="{4C0E4F53-6019-4B72-BA08-41E80FCF9CB9}" dt="2026-08-06T12:01:30.859" v="754" actId="22"/>
          <ac:picMkLst>
            <pc:docMk/>
            <pc:sldMk cId="2933454941" sldId="276"/>
            <ac:picMk id="7" creationId="{C953BF58-2273-C6B9-D3BC-68C8B76330D7}"/>
          </ac:picMkLst>
        </pc:picChg>
      </pc:sldChg>
      <pc:sldChg chg="addSp modSp new mod">
        <pc:chgData name="Dinesh Karthik" userId="103677abafd6610d" providerId="LiveId" clId="{4C0E4F53-6019-4B72-BA08-41E80FCF9CB9}" dt="2026-08-26T04:26:26.247" v="865" actId="2711"/>
        <pc:sldMkLst>
          <pc:docMk/>
          <pc:sldMk cId="1387719769" sldId="277"/>
        </pc:sldMkLst>
        <pc:spChg chg="mod">
          <ac:chgData name="Dinesh Karthik" userId="103677abafd6610d" providerId="LiveId" clId="{4C0E4F53-6019-4B72-BA08-41E80FCF9CB9}" dt="2026-08-26T04:26:19.942" v="864" actId="2711"/>
          <ac:spMkLst>
            <pc:docMk/>
            <pc:sldMk cId="1387719769" sldId="277"/>
            <ac:spMk id="2" creationId="{49281F67-9E22-335D-DE0B-09109F317211}"/>
          </ac:spMkLst>
        </pc:spChg>
        <pc:spChg chg="mod">
          <ac:chgData name="Dinesh Karthik" userId="103677abafd6610d" providerId="LiveId" clId="{4C0E4F53-6019-4B72-BA08-41E80FCF9CB9}" dt="2026-08-26T04:26:26.247" v="865" actId="2711"/>
          <ac:spMkLst>
            <pc:docMk/>
            <pc:sldMk cId="1387719769" sldId="277"/>
            <ac:spMk id="3" creationId="{891A12E7-42CC-46F9-066B-5055E24E8E2C}"/>
          </ac:spMkLst>
        </pc:spChg>
        <pc:picChg chg="add">
          <ac:chgData name="Dinesh Karthik" userId="103677abafd6610d" providerId="LiveId" clId="{4C0E4F53-6019-4B72-BA08-41E80FCF9CB9}" dt="2026-08-06T12:03:51.662" v="776" actId="22"/>
          <ac:picMkLst>
            <pc:docMk/>
            <pc:sldMk cId="1387719769" sldId="277"/>
            <ac:picMk id="5" creationId="{29E5519A-C32F-CF20-7AA0-34D461C9D357}"/>
          </ac:picMkLst>
        </pc:picChg>
        <pc:picChg chg="add">
          <ac:chgData name="Dinesh Karthik" userId="103677abafd6610d" providerId="LiveId" clId="{4C0E4F53-6019-4B72-BA08-41E80FCF9CB9}" dt="2026-08-06T12:03:59.511" v="777" actId="22"/>
          <ac:picMkLst>
            <pc:docMk/>
            <pc:sldMk cId="1387719769" sldId="277"/>
            <ac:picMk id="7" creationId="{E83A0FFF-CF40-AE21-0352-A39E96928A1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18" name="Google Shape;1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link.springer.com/?utm_source=chatgpt.com" TargetMode="External"/><Relationship Id="rId3" Type="http://schemas.openxmlformats.org/officeDocument/2006/relationships/hyperlink" Target="https://docs.espressif.com/projects/esp-idf/en/latest/esp32/?utm_source=chatgpt.com" TargetMode="External"/><Relationship Id="rId7" Type="http://schemas.openxmlformats.org/officeDocument/2006/relationships/hyperlink" Target="https://ieeexplore.ieee.org/?utm_source=chatgpt.com" TargetMode="External"/><Relationship Id="rId2" Type="http://schemas.openxmlformats.org/officeDocument/2006/relationships/hyperlink" Target="https://docs.arduino.cc/?utm_source=chatgpt.com" TargetMode="External"/><Relationship Id="rId1" Type="http://schemas.openxmlformats.org/officeDocument/2006/relationships/slideLayout" Target="../slideLayouts/slideLayout2.xml"/><Relationship Id="rId6" Type="http://schemas.openxmlformats.org/officeDocument/2006/relationships/hyperlink" Target="https://firebase.google.com/docs?utm_source=chatgpt.com" TargetMode="External"/><Relationship Id="rId11" Type="http://schemas.openxmlformats.org/officeDocument/2006/relationships/image" Target="../media/image2.jpg"/><Relationship Id="rId5" Type="http://schemas.openxmlformats.org/officeDocument/2006/relationships/hyperlink" Target="https://www.tensorflow.org/?utm_source=chatgpt.com" TargetMode="External"/><Relationship Id="rId10" Type="http://schemas.openxmlformats.org/officeDocument/2006/relationships/image" Target="../media/image1.png"/><Relationship Id="rId4" Type="http://schemas.openxmlformats.org/officeDocument/2006/relationships/hyperlink" Target="https://github.com/adafruit/DHT-sensor-library?utm_source=chatgpt.com" TargetMode="External"/><Relationship Id="rId9" Type="http://schemas.openxmlformats.org/officeDocument/2006/relationships/hyperlink" Target="https://www.sciencedirect.com/?utm_source=chatgpt.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269048" y="1269664"/>
            <a:ext cx="9144000" cy="1655762"/>
          </a:xfrm>
          <a:prstGeom prst="rect">
            <a:avLst/>
          </a:prstGeom>
          <a:noFill/>
          <a:ln>
            <a:noFill/>
          </a:ln>
        </p:spPr>
        <p:txBody>
          <a:bodyPr spcFirstLastPara="1" wrap="square" lIns="91425" tIns="45700" rIns="91425" bIns="45700" anchor="b" anchorCtr="0">
            <a:noAutofit/>
          </a:bodyPr>
          <a:lstStyle/>
          <a:p>
            <a:pPr lvl="0">
              <a:buSzPct val="100000"/>
            </a:pPr>
            <a:r>
              <a:rPr lang="en-US" sz="3600" b="1" dirty="0">
                <a:solidFill>
                  <a:schemeClr val="accent1"/>
                </a:solidFill>
                <a:latin typeface="Times New Roman" panose="02020603050405020304" pitchFamily="18" charset="0"/>
                <a:cs typeface="Times New Roman" panose="02020603050405020304" pitchFamily="18" charset="0"/>
              </a:rPr>
              <a:t>AI-Powered Smart Sensor for Temperature  and Humidity Monitoring</a:t>
            </a:r>
            <a:endParaRPr sz="3600" b="1" dirty="0">
              <a:solidFill>
                <a:schemeClr val="accent1"/>
              </a:solidFill>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513971" y="4758271"/>
            <a:ext cx="4952764" cy="165576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Clr>
                <a:schemeClr val="dk1"/>
              </a:buClr>
              <a:buSzPts val="2400"/>
              <a:buNone/>
            </a:pPr>
            <a:r>
              <a:rPr lang="en-US" b="1" dirty="0">
                <a:solidFill>
                  <a:srgbClr val="FF0000"/>
                </a:solidFill>
                <a:latin typeface="Times New Roman" panose="02020603050405020304" pitchFamily="18" charset="0"/>
                <a:ea typeface="Times New Roman"/>
                <a:cs typeface="Times New Roman" panose="02020603050405020304" pitchFamily="18" charset="0"/>
                <a:sym typeface="Times New Roman"/>
              </a:rPr>
              <a:t>Presented By:</a:t>
            </a:r>
          </a:p>
          <a:p>
            <a:pPr marL="0" lvl="0" indent="0" algn="ctr" rtl="0">
              <a:lnSpc>
                <a:spcPct val="100000"/>
              </a:lnSpc>
              <a:spcBef>
                <a:spcPts val="0"/>
              </a:spcBef>
              <a:spcAft>
                <a:spcPts val="0"/>
              </a:spcAft>
              <a:buClr>
                <a:schemeClr val="dk1"/>
              </a:buClr>
              <a:buSzPts val="2400"/>
              <a:buNone/>
            </a:pPr>
            <a:endParaRPr lang="en-US" b="1" dirty="0">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100000"/>
              </a:lnSpc>
              <a:spcBef>
                <a:spcPts val="0"/>
              </a:spcBef>
              <a:spcAft>
                <a:spcPts val="0"/>
              </a:spcAft>
              <a:buClr>
                <a:schemeClr val="dk1"/>
              </a:buClr>
              <a:buSzPts val="2400"/>
              <a:buNone/>
            </a:pPr>
            <a:r>
              <a:rPr lang="en-US" b="1" dirty="0" err="1">
                <a:latin typeface="Times New Roman" panose="02020603050405020304" pitchFamily="18" charset="0"/>
                <a:cs typeface="Times New Roman" panose="02020603050405020304" pitchFamily="18" charset="0"/>
                <a:sym typeface="Times New Roman"/>
              </a:rPr>
              <a:t>K.Nithin</a:t>
            </a:r>
            <a:r>
              <a:rPr lang="en-US" b="1" dirty="0">
                <a:latin typeface="Times New Roman" panose="02020603050405020304" pitchFamily="18" charset="0"/>
                <a:cs typeface="Times New Roman" panose="02020603050405020304" pitchFamily="18" charset="0"/>
                <a:sym typeface="Times New Roman"/>
              </a:rPr>
              <a:t> Varma (192312272)</a:t>
            </a:r>
          </a:p>
          <a:p>
            <a:pPr marL="0" lvl="0" indent="0" algn="l" rtl="0">
              <a:lnSpc>
                <a:spcPct val="100000"/>
              </a:lnSpc>
              <a:spcBef>
                <a:spcPts val="0"/>
              </a:spcBef>
              <a:spcAft>
                <a:spcPts val="0"/>
              </a:spcAft>
              <a:buClr>
                <a:schemeClr val="dk1"/>
              </a:buClr>
              <a:buSzPts val="2400"/>
              <a:buNone/>
            </a:pPr>
            <a:r>
              <a:rPr lang="en-US" b="1" dirty="0" err="1">
                <a:latin typeface="Times New Roman" panose="02020603050405020304" pitchFamily="18" charset="0"/>
                <a:cs typeface="Times New Roman" panose="02020603050405020304" pitchFamily="18" charset="0"/>
                <a:sym typeface="Times New Roman"/>
              </a:rPr>
              <a:t>P.Dinesh</a:t>
            </a:r>
            <a:r>
              <a:rPr lang="en-US" b="1" dirty="0">
                <a:latin typeface="Times New Roman" panose="02020603050405020304" pitchFamily="18" charset="0"/>
                <a:cs typeface="Times New Roman" panose="02020603050405020304" pitchFamily="18" charset="0"/>
                <a:sym typeface="Times New Roman"/>
              </a:rPr>
              <a:t> Karthik (192525268)</a:t>
            </a:r>
            <a:endParaRPr dirty="0">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2400"/>
              <a:buNone/>
            </a:pPr>
            <a:r>
              <a:rPr lang="en-US" b="1" dirty="0" err="1">
                <a:latin typeface="Times New Roman" panose="02020603050405020304" pitchFamily="18" charset="0"/>
                <a:cs typeface="Times New Roman" panose="02020603050405020304" pitchFamily="18" charset="0"/>
                <a:sym typeface="Times New Roman"/>
              </a:rPr>
              <a:t>G.Vinay</a:t>
            </a:r>
            <a:r>
              <a:rPr lang="en-US" b="1" dirty="0">
                <a:latin typeface="Times New Roman" panose="02020603050405020304" pitchFamily="18" charset="0"/>
                <a:cs typeface="Times New Roman" panose="02020603050405020304" pitchFamily="18" charset="0"/>
                <a:sym typeface="Times New Roman"/>
              </a:rPr>
              <a:t>(192312380)</a:t>
            </a:r>
          </a:p>
          <a:p>
            <a:pPr marL="0" lvl="0" indent="0" algn="ctr" rtl="0">
              <a:lnSpc>
                <a:spcPct val="100000"/>
              </a:lnSpc>
              <a:spcBef>
                <a:spcPts val="0"/>
              </a:spcBef>
              <a:spcAft>
                <a:spcPts val="0"/>
              </a:spcAft>
              <a:buClr>
                <a:schemeClr val="dk1"/>
              </a:buClr>
              <a:buSzPts val="2400"/>
              <a:buNone/>
            </a:pPr>
            <a:endParaRPr dirty="0"/>
          </a:p>
        </p:txBody>
      </p:sp>
      <p:pic>
        <p:nvPicPr>
          <p:cNvPr id="90" name="Google Shape;90;p1"/>
          <p:cNvPicPr preferRelativeResize="0"/>
          <p:nvPr/>
        </p:nvPicPr>
        <p:blipFill rotWithShape="1">
          <a:blip r:embed="rId3">
            <a:alphaModFix/>
          </a:blip>
          <a:srcRect/>
          <a:stretch/>
        </p:blipFill>
        <p:spPr>
          <a:xfrm>
            <a:off x="388620" y="370205"/>
            <a:ext cx="1135380" cy="1343025"/>
          </a:xfrm>
          <a:prstGeom prst="rect">
            <a:avLst/>
          </a:prstGeom>
          <a:noFill/>
          <a:ln>
            <a:noFill/>
          </a:ln>
        </p:spPr>
      </p:pic>
      <p:pic>
        <p:nvPicPr>
          <p:cNvPr id="91" name="Google Shape;91;p1"/>
          <p:cNvPicPr preferRelativeResize="0"/>
          <p:nvPr/>
        </p:nvPicPr>
        <p:blipFill rotWithShape="1">
          <a:blip r:embed="rId4">
            <a:alphaModFix/>
          </a:blip>
          <a:srcRect/>
          <a:stretch/>
        </p:blipFill>
        <p:spPr>
          <a:xfrm>
            <a:off x="10158095" y="238662"/>
            <a:ext cx="1520190" cy="1343025"/>
          </a:xfrm>
          <a:prstGeom prst="rect">
            <a:avLst/>
          </a:prstGeom>
          <a:noFill/>
          <a:ln>
            <a:noFill/>
          </a:ln>
        </p:spPr>
      </p:pic>
      <p:sp>
        <p:nvSpPr>
          <p:cNvPr id="92" name="Google Shape;92;p1"/>
          <p:cNvSpPr txBox="1"/>
          <p:nvPr/>
        </p:nvSpPr>
        <p:spPr>
          <a:xfrm>
            <a:off x="8133547" y="4758271"/>
            <a:ext cx="3704492" cy="1292621"/>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000" b="1" i="0" u="none" strike="noStrike" cap="none" dirty="0">
                <a:solidFill>
                  <a:srgbClr val="C00000"/>
                </a:solidFill>
                <a:latin typeface="Times New Roman" panose="02020603050405020304" pitchFamily="18" charset="0"/>
                <a:ea typeface="Times New Roman"/>
                <a:cs typeface="Times New Roman" panose="02020603050405020304" pitchFamily="18" charset="0"/>
                <a:sym typeface="Times New Roman"/>
              </a:rPr>
              <a:t>Guided by:</a:t>
            </a:r>
          </a:p>
          <a:p>
            <a:pPr marL="0" marR="0" lvl="0" indent="0" rtl="0">
              <a:spcBef>
                <a:spcPts val="0"/>
              </a:spcBef>
              <a:spcAft>
                <a:spcPts val="0"/>
              </a:spcAft>
              <a:buNone/>
            </a:pPr>
            <a:endParaRPr lang="en-IN" dirty="0">
              <a:solidFill>
                <a:srgbClr val="C00000"/>
              </a:solidFill>
              <a:highlight>
                <a:srgbClr val="FFFF00"/>
              </a:highlight>
              <a:latin typeface="Times New Roman" panose="02020603050405020304" pitchFamily="18" charset="0"/>
              <a:cs typeface="Times New Roman" panose="02020603050405020304" pitchFamily="18" charset="0"/>
            </a:endParaRPr>
          </a:p>
          <a:p>
            <a:r>
              <a:rPr lang="en-IN" sz="2000" b="1" dirty="0">
                <a:solidFill>
                  <a:schemeClr val="tx1"/>
                </a:solidFill>
                <a:latin typeface="Times New Roman" panose="02020603050405020304" pitchFamily="18" charset="0"/>
                <a:cs typeface="Times New Roman" panose="02020603050405020304" pitchFamily="18" charset="0"/>
              </a:rPr>
              <a:t>DR.R.JEENA</a:t>
            </a:r>
          </a:p>
          <a:p>
            <a:pPr marL="0" marR="0" lvl="0" indent="0" algn="ctr" rtl="0">
              <a:spcBef>
                <a:spcPts val="0"/>
              </a:spcBef>
              <a:spcAft>
                <a:spcPts val="0"/>
              </a:spcAft>
              <a:buNone/>
            </a:pPr>
            <a:endParaRPr sz="2400" b="1" i="0" u="none" strike="noStrike" cap="none" dirty="0">
              <a:solidFill>
                <a:schemeClr val="dk1"/>
              </a:solidFill>
              <a:latin typeface="Times New Roman"/>
              <a:ea typeface="Times New Roman"/>
              <a:cs typeface="Times New Roman"/>
              <a:sym typeface="Times New Roman"/>
            </a:endParaRPr>
          </a:p>
        </p:txBody>
      </p:sp>
      <p:sp>
        <p:nvSpPr>
          <p:cNvPr id="93" name="Google Shape;93;p1"/>
          <p:cNvSpPr txBox="1"/>
          <p:nvPr/>
        </p:nvSpPr>
        <p:spPr>
          <a:xfrm>
            <a:off x="1524000" y="3318668"/>
            <a:ext cx="9222658"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i="0" u="none" strike="noStrike" cap="none" dirty="0">
                <a:solidFill>
                  <a:srgbClr val="FF0000"/>
                </a:solidFill>
                <a:latin typeface="Times New Roman" panose="02020603050405020304" pitchFamily="18" charset="0"/>
                <a:ea typeface="Times New Roman"/>
                <a:cs typeface="Times New Roman" panose="02020603050405020304" pitchFamily="18" charset="0"/>
                <a:sym typeface="Times New Roman"/>
              </a:rPr>
              <a:t>CSA1703-ARTIFICIAL INTELLIGENCE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Times New Roman"/>
                <a:cs typeface="Times New Roman" panose="02020603050405020304" pitchFamily="18" charset="0"/>
                <a:sym typeface="Times New Roman"/>
              </a:rPr>
              <a:t>INTRODUCTION</a:t>
            </a:r>
            <a:endParaRPr b="1"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2"/>
          <p:cNvSpPr txBox="1">
            <a:spLocks noGrp="1"/>
          </p:cNvSpPr>
          <p:nvPr>
            <p:ph type="body" idx="1"/>
          </p:nvPr>
        </p:nvSpPr>
        <p:spPr>
          <a:xfrm>
            <a:off x="609600" y="1600201"/>
            <a:ext cx="10795819" cy="4810990"/>
          </a:xfrm>
          <a:prstGeom prst="rect">
            <a:avLst/>
          </a:prstGeom>
          <a:noFill/>
          <a:ln>
            <a:noFill/>
          </a:ln>
        </p:spPr>
        <p:txBody>
          <a:bodyPr spcFirstLastPara="1" wrap="square" lIns="91425" tIns="45700" rIns="91425" bIns="45700" anchor="t" anchorCtr="0">
            <a:noAutofit/>
          </a:bodyPr>
          <a:lstStyle/>
          <a:p>
            <a:pPr>
              <a:buFont typeface="Wingdings" panose="05000000000000000000" pitchFamily="2" charset="2"/>
              <a:buChar char="q"/>
            </a:pPr>
            <a:endParaRPr lang="en-IN" b="1" dirty="0"/>
          </a:p>
          <a:p>
            <a:pPr lvl="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AI-Enabled Smart Monitoring: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.Uses Artificial Intelligence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temperature and humidity data. It improves monitoring accuracy by identifying patterns and trends. </a:t>
            </a:r>
          </a:p>
          <a:p>
            <a:pPr lvl="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Real-Time Monitoring: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Continuously measures environmental conditions without interruption. This ensures timely detection of any changes. </a:t>
            </a:r>
          </a:p>
          <a:p>
            <a:pPr lvl="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IoT Connectivity: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Transmits sensor data to the cloud through wireless communication. Users can monitor the system remotely from anywhere. </a:t>
            </a:r>
          </a:p>
          <a:p>
            <a:pPr lvl="0">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Predictive Analytics: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Uses historical data to predict future temperature and humidity levels. This helps prevent potential environmental issues.</a:t>
            </a:r>
          </a:p>
          <a:p>
            <a:pPr marL="514350" indent="-514350">
              <a:lnSpc>
                <a:spcPct val="150000"/>
              </a:lnSpc>
              <a:spcBef>
                <a:spcPts val="0"/>
              </a:spcBef>
              <a:buSzPts val="2400"/>
              <a:buFont typeface="Wingdings" panose="05000000000000000000" pitchFamily="2" charset="2"/>
              <a:buChar char="q"/>
            </a:pPr>
            <a:endParaRPr dirty="0"/>
          </a:p>
        </p:txBody>
      </p:sp>
      <p:pic>
        <p:nvPicPr>
          <p:cNvPr id="100" name="Google Shape;100;p2"/>
          <p:cNvPicPr preferRelativeResize="0"/>
          <p:nvPr/>
        </p:nvPicPr>
        <p:blipFill rotWithShape="1">
          <a:blip r:embed="rId3">
            <a:alphaModFix/>
          </a:blip>
          <a:srcRect/>
          <a:stretch/>
        </p:blipFill>
        <p:spPr>
          <a:xfrm>
            <a:off x="357352" y="191626"/>
            <a:ext cx="1135117" cy="1342884"/>
          </a:xfrm>
          <a:prstGeom prst="rect">
            <a:avLst/>
          </a:prstGeom>
          <a:noFill/>
          <a:ln>
            <a:noFill/>
          </a:ln>
        </p:spPr>
      </p:pic>
      <p:pic>
        <p:nvPicPr>
          <p:cNvPr id="101" name="Google Shape;101;p2"/>
          <p:cNvPicPr preferRelativeResize="0"/>
          <p:nvPr/>
        </p:nvPicPr>
        <p:blipFill rotWithShape="1">
          <a:blip r:embed="rId4">
            <a:alphaModFix/>
          </a:blip>
          <a:srcRect/>
          <a:stretch/>
        </p:blipFill>
        <p:spPr>
          <a:xfrm>
            <a:off x="10514231" y="191626"/>
            <a:ext cx="1520114" cy="1342884"/>
          </a:xfrm>
          <a:prstGeom prst="rect">
            <a:avLst/>
          </a:prstGeom>
          <a:noFill/>
          <a:ln>
            <a:noFill/>
          </a:ln>
        </p:spPr>
      </p:pic>
      <p:sp>
        <p:nvSpPr>
          <p:cNvPr id="102" name="Google Shape;102;p2" descr="How to Build an Online Food Ordering System [Complete Guide]"/>
          <p:cNvSpPr/>
          <p:nvPr/>
        </p:nvSpPr>
        <p:spPr>
          <a:xfrm>
            <a:off x="6892414" y="2133600"/>
            <a:ext cx="5034116" cy="321514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descr="How to Build an Online Food Ordering System [Complete Guid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descr="How to Build an Online Food Ordering System [Complete Guide]"/>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CSA1415</a:t>
            </a:r>
            <a:endParaRPr dirty="0"/>
          </a:p>
        </p:txBody>
      </p:sp>
      <p:sp>
        <p:nvSpPr>
          <p:cNvPr id="106" name="Google Shape;10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p:nvPr/>
        </p:nvSpPr>
        <p:spPr>
          <a:xfrm>
            <a:off x="3404751" y="743497"/>
            <a:ext cx="5565059" cy="1325563"/>
          </a:xfrm>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4400"/>
            </a:pPr>
            <a:r>
              <a:rPr lang="en-IN" sz="4400" b="1" dirty="0">
                <a:solidFill>
                  <a:schemeClr val="dk1"/>
                </a:solidFill>
                <a:latin typeface="Times New Roman" panose="02020603050405020304" pitchFamily="18" charset="0"/>
                <a:ea typeface="Calibri"/>
                <a:cs typeface="Times New Roman" panose="02020603050405020304" pitchFamily="18" charset="0"/>
                <a:sym typeface="Calibri"/>
              </a:rPr>
              <a:t>Problem Statement</a:t>
            </a:r>
            <a:endParaRPr sz="44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20" name="Google Shape;120;p4"/>
          <p:cNvPicPr preferRelativeResize="0"/>
          <p:nvPr/>
        </p:nvPicPr>
        <p:blipFill rotWithShape="1">
          <a:blip r:embed="rId3">
            <a:alphaModFix/>
          </a:blip>
          <a:srcRect/>
          <a:stretch/>
        </p:blipFill>
        <p:spPr>
          <a:xfrm>
            <a:off x="396002" y="230188"/>
            <a:ext cx="1135117" cy="1342884"/>
          </a:xfrm>
          <a:prstGeom prst="rect">
            <a:avLst/>
          </a:prstGeom>
          <a:noFill/>
          <a:ln>
            <a:noFill/>
          </a:ln>
        </p:spPr>
      </p:pic>
      <p:pic>
        <p:nvPicPr>
          <p:cNvPr id="121" name="Google Shape;121;p4"/>
          <p:cNvPicPr preferRelativeResize="0"/>
          <p:nvPr/>
        </p:nvPicPr>
        <p:blipFill rotWithShape="1">
          <a:blip r:embed="rId4">
            <a:alphaModFix/>
          </a:blip>
          <a:srcRect/>
          <a:stretch/>
        </p:blipFill>
        <p:spPr>
          <a:xfrm>
            <a:off x="10275884" y="230188"/>
            <a:ext cx="1520114" cy="1342884"/>
          </a:xfrm>
          <a:prstGeom prst="rect">
            <a:avLst/>
          </a:prstGeom>
          <a:noFill/>
          <a:ln>
            <a:noFill/>
          </a:ln>
        </p:spPr>
      </p:pic>
      <p:sp>
        <p:nvSpPr>
          <p:cNvPr id="122" name="Google Shape;122;p4"/>
          <p:cNvSpPr/>
          <p:nvPr/>
        </p:nvSpPr>
        <p:spPr>
          <a:xfrm>
            <a:off x="838200" y="2201223"/>
            <a:ext cx="10297689" cy="3416279"/>
          </a:xfrm>
          <a:prstGeom prst="rect">
            <a:avLst/>
          </a:prstGeom>
          <a:noFill/>
          <a:ln>
            <a:noFill/>
          </a:ln>
        </p:spPr>
        <p:txBody>
          <a:bodyPr spcFirstLastPara="1" wrap="square" lIns="91425" tIns="45700" rIns="91425" bIns="45700" anchor="ctr" anchorCtr="0">
            <a:spAutoFit/>
          </a:bodyPr>
          <a:lstStyle/>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Traditional temperature and humidity monitoring systems often require manual checking and provide limited analysis capabilities. They may fail to detect sudden environmental changes, leading to equipment damage, product loss, and inefficient resource management.</a:t>
            </a:r>
          </a:p>
          <a:p>
            <a:pPr marL="342900" indent="-34290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need is for an </a:t>
            </a:r>
            <a:r>
              <a:rPr lang="en-IN" sz="2000" b="1" dirty="0">
                <a:latin typeface="Times New Roman" panose="02020603050405020304" pitchFamily="18" charset="0"/>
                <a:cs typeface="Times New Roman" panose="02020603050405020304" pitchFamily="18" charset="0"/>
              </a:rPr>
              <a:t>AI-powered smart monitoring system</a:t>
            </a:r>
            <a:r>
              <a:rPr lang="en-IN" sz="2000" dirty="0">
                <a:latin typeface="Times New Roman" panose="02020603050405020304" pitchFamily="18" charset="0"/>
                <a:cs typeface="Times New Roman" panose="02020603050405020304" pitchFamily="18" charset="0"/>
              </a:rPr>
              <a:t> that can continuously measure temperature and humidity,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data in real time, predict abnormal conditions, and provide instant alerts. Such a system can improve reliability, reduce human effort, and enable proactive environmental management in various applications.</a:t>
            </a:r>
          </a:p>
          <a:p>
            <a:pPr marL="457200" lvl="0" indent="-457200">
              <a:lnSpc>
                <a:spcPct val="200000"/>
              </a:lnSpc>
              <a:buClr>
                <a:schemeClr val="dk1"/>
              </a:buClr>
              <a:buSzPts val="2400"/>
              <a:buFont typeface="Wingdings" panose="05000000000000000000" pitchFamily="2" charset="2"/>
              <a:buChar char="§"/>
            </a:pPr>
            <a:endParaRP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2015612" y="365125"/>
            <a:ext cx="9338187" cy="1325563"/>
          </a:xfrm>
          <a:prstGeom prst="rect">
            <a:avLst/>
          </a:prstGeom>
          <a:noFill/>
          <a:ln>
            <a:noFill/>
          </a:ln>
        </p:spPr>
        <p:txBody>
          <a:bodyPr spcFirstLastPara="1" wrap="square" lIns="91425" tIns="45700" rIns="91425" bIns="45700" anchor="ctr" anchorCtr="0">
            <a:normAutofit/>
          </a:bodyPr>
          <a:lstStyle/>
          <a:p>
            <a:pPr>
              <a:buSzPts val="4400"/>
            </a:pPr>
            <a:r>
              <a:rPr lang="en-IN" b="1" dirty="0">
                <a:latin typeface="Times New Roman" panose="02020603050405020304" pitchFamily="18" charset="0"/>
                <a:cs typeface="Times New Roman" panose="02020603050405020304" pitchFamily="18" charset="0"/>
              </a:rPr>
              <a:t>Objectives</a:t>
            </a:r>
            <a:endParaRPr b="1" dirty="0">
              <a:latin typeface="Times New Roman" panose="02020603050405020304" pitchFamily="18" charset="0"/>
              <a:cs typeface="Times New Roman" panose="02020603050405020304" pitchFamily="18" charset="0"/>
            </a:endParaRPr>
          </a:p>
        </p:txBody>
      </p:sp>
      <p:pic>
        <p:nvPicPr>
          <p:cNvPr id="128" name="Google Shape;128;p7"/>
          <p:cNvPicPr preferRelativeResize="0"/>
          <p:nvPr/>
        </p:nvPicPr>
        <p:blipFill rotWithShape="1">
          <a:blip r:embed="rId3">
            <a:alphaModFix/>
          </a:blip>
          <a:srcRect/>
          <a:stretch/>
        </p:blipFill>
        <p:spPr>
          <a:xfrm>
            <a:off x="396002" y="230188"/>
            <a:ext cx="1135117" cy="1342884"/>
          </a:xfrm>
          <a:prstGeom prst="rect">
            <a:avLst/>
          </a:prstGeom>
          <a:noFill/>
          <a:ln>
            <a:noFill/>
          </a:ln>
        </p:spPr>
      </p:pic>
      <p:pic>
        <p:nvPicPr>
          <p:cNvPr id="129" name="Google Shape;129;p7"/>
          <p:cNvPicPr preferRelativeResize="0"/>
          <p:nvPr/>
        </p:nvPicPr>
        <p:blipFill rotWithShape="1">
          <a:blip r:embed="rId4">
            <a:alphaModFix/>
          </a:blip>
          <a:srcRect/>
          <a:stretch/>
        </p:blipFill>
        <p:spPr>
          <a:xfrm>
            <a:off x="10275884" y="230188"/>
            <a:ext cx="1520114" cy="1342884"/>
          </a:xfrm>
          <a:prstGeom prst="rect">
            <a:avLst/>
          </a:prstGeom>
          <a:noFill/>
          <a:ln>
            <a:noFill/>
          </a:ln>
        </p:spPr>
      </p:pic>
      <p:sp>
        <p:nvSpPr>
          <p:cNvPr id="130" name="Google Shape;130;p7"/>
          <p:cNvSpPr txBox="1">
            <a:spLocks noGrp="1"/>
          </p:cNvSpPr>
          <p:nvPr>
            <p:ph type="body" idx="1"/>
          </p:nvPr>
        </p:nvSpPr>
        <p:spPr>
          <a:xfrm>
            <a:off x="1091381" y="2129956"/>
            <a:ext cx="9792929" cy="3416279"/>
          </a:xfrm>
          <a:prstGeom prst="rect">
            <a:avLst/>
          </a:prstGeom>
          <a:noFill/>
          <a:ln>
            <a:noFill/>
          </a:ln>
        </p:spPr>
        <p:txBody>
          <a:bodyPr spcFirstLastPara="1" wrap="square" lIns="91425" tIns="45700" rIns="91425" bIns="45700" anchor="ctr" anchorCtr="0">
            <a:spAutoFit/>
          </a:bodyPr>
          <a:lstStyle/>
          <a:p>
            <a:pPr lvl="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To develop an </a:t>
            </a:r>
            <a:r>
              <a:rPr lang="en-IN" sz="2000" b="1" dirty="0">
                <a:latin typeface="Times New Roman" panose="02020603050405020304" pitchFamily="18" charset="0"/>
                <a:cs typeface="Times New Roman" panose="02020603050405020304" pitchFamily="18" charset="0"/>
              </a:rPr>
              <a:t>AI-powered IoT system</a:t>
            </a:r>
            <a:r>
              <a:rPr lang="en-IN" sz="2000" dirty="0">
                <a:latin typeface="Times New Roman" panose="02020603050405020304" pitchFamily="18" charset="0"/>
                <a:cs typeface="Times New Roman" panose="02020603050405020304" pitchFamily="18" charset="0"/>
              </a:rPr>
              <a:t> for real-time temperature and humidity monitoring. </a:t>
            </a:r>
          </a:p>
          <a:p>
            <a:pPr lvl="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To collect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environmental data using smart sensors. </a:t>
            </a:r>
          </a:p>
          <a:p>
            <a:pPr lvl="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To use AI algorithms for </a:t>
            </a:r>
            <a:r>
              <a:rPr lang="en-IN" sz="2000" b="1" dirty="0">
                <a:latin typeface="Times New Roman" panose="02020603050405020304" pitchFamily="18" charset="0"/>
                <a:cs typeface="Times New Roman" panose="02020603050405020304" pitchFamily="18" charset="0"/>
              </a:rPr>
              <a:t>prediction and anomaly detection</a:t>
            </a:r>
            <a:r>
              <a:rPr lang="en-IN" sz="20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To provide instant alerts when environmental conditions exceed safe limits. </a:t>
            </a:r>
          </a:p>
          <a:p>
            <a:pPr lvl="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To enable remote monitoring through a web or mobile application. </a:t>
            </a:r>
          </a:p>
          <a:p>
            <a:pPr lvl="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To store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historical data for better decision-making.</a:t>
            </a:r>
          </a:p>
          <a:p>
            <a:pPr marL="342900" marR="0" lvl="0" algn="l" rtl="0">
              <a:lnSpc>
                <a:spcPct val="200000"/>
              </a:lnSpc>
              <a:spcBef>
                <a:spcPts val="0"/>
              </a:spcBef>
              <a:spcAft>
                <a:spcPts val="0"/>
              </a:spcAft>
              <a:buClr>
                <a:schemeClr val="dk1"/>
              </a:buClr>
              <a:buSzPts val="2400"/>
              <a:buFont typeface="Wingdings" panose="05000000000000000000" pitchFamily="2" charset="2"/>
              <a:buChar char="q"/>
            </a:pP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5" name="Google Shape;145;p8"/>
          <p:cNvPicPr preferRelativeResize="0"/>
          <p:nvPr/>
        </p:nvPicPr>
        <p:blipFill rotWithShape="1">
          <a:blip r:embed="rId3">
            <a:alphaModFix/>
          </a:blip>
          <a:srcRect/>
          <a:stretch/>
        </p:blipFill>
        <p:spPr>
          <a:xfrm>
            <a:off x="388620" y="370205"/>
            <a:ext cx="1135380" cy="1343025"/>
          </a:xfrm>
          <a:prstGeom prst="rect">
            <a:avLst/>
          </a:prstGeom>
          <a:noFill/>
          <a:ln>
            <a:noFill/>
          </a:ln>
        </p:spPr>
      </p:pic>
      <p:pic>
        <p:nvPicPr>
          <p:cNvPr id="146" name="Google Shape;146;p8"/>
          <p:cNvPicPr preferRelativeResize="0"/>
          <p:nvPr/>
        </p:nvPicPr>
        <p:blipFill rotWithShape="1">
          <a:blip r:embed="rId4">
            <a:alphaModFix/>
          </a:blip>
          <a:srcRect/>
          <a:stretch/>
        </p:blipFill>
        <p:spPr>
          <a:xfrm>
            <a:off x="10158095" y="219808"/>
            <a:ext cx="1520190" cy="1343025"/>
          </a:xfrm>
          <a:prstGeom prst="rect">
            <a:avLst/>
          </a:prstGeom>
          <a:noFill/>
          <a:ln>
            <a:noFill/>
          </a:ln>
        </p:spPr>
      </p:pic>
      <p:sp>
        <p:nvSpPr>
          <p:cNvPr id="2" name="TextBox 1">
            <a:extLst>
              <a:ext uri="{FF2B5EF4-FFF2-40B4-BE49-F238E27FC236}">
                <a16:creationId xmlns:a16="http://schemas.microsoft.com/office/drawing/2014/main" id="{4CAE3F94-AA9C-4653-4F17-3A36A6FD2681}"/>
              </a:ext>
            </a:extLst>
          </p:cNvPr>
          <p:cNvSpPr txBox="1"/>
          <p:nvPr/>
        </p:nvSpPr>
        <p:spPr>
          <a:xfrm>
            <a:off x="3565975" y="97149"/>
            <a:ext cx="4171335" cy="58477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IN" sz="3200" b="1" dirty="0"/>
              <a:t>System Architecture</a:t>
            </a:r>
          </a:p>
        </p:txBody>
      </p:sp>
      <p:pic>
        <p:nvPicPr>
          <p:cNvPr id="9" name="Picture 8">
            <a:extLst>
              <a:ext uri="{FF2B5EF4-FFF2-40B4-BE49-F238E27FC236}">
                <a16:creationId xmlns:a16="http://schemas.microsoft.com/office/drawing/2014/main" id="{90792438-6DFF-7EDA-CCDF-9FBD408615E7}"/>
              </a:ext>
            </a:extLst>
          </p:cNvPr>
          <p:cNvPicPr>
            <a:picLocks noChangeAspect="1"/>
          </p:cNvPicPr>
          <p:nvPr/>
        </p:nvPicPr>
        <p:blipFill>
          <a:blip r:embed="rId5"/>
          <a:srcRect t="5398"/>
          <a:stretch>
            <a:fillRect/>
          </a:stretch>
        </p:blipFill>
        <p:spPr>
          <a:xfrm>
            <a:off x="3365642" y="925727"/>
            <a:ext cx="4572000" cy="59322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1682490" y="609945"/>
            <a:ext cx="7540168" cy="1325563"/>
          </a:xfrm>
          <a:prstGeom prst="rect">
            <a:avLst/>
          </a:prstGeom>
          <a:noFill/>
          <a:ln>
            <a:noFill/>
          </a:ln>
        </p:spPr>
        <p:txBody>
          <a:bodyPr spcFirstLastPara="1" wrap="square" lIns="91425" tIns="45700" rIns="91425" bIns="45700" anchor="ctr" anchorCtr="0">
            <a:normAutofit/>
          </a:bodyPr>
          <a:lstStyle/>
          <a:p>
            <a:pPr lvl="0">
              <a:buSzPts val="4400"/>
            </a:pPr>
            <a:r>
              <a:rPr lang="en-IN" sz="3200" b="1" dirty="0">
                <a:latin typeface="Times New Roman" panose="02020603050405020304" pitchFamily="18" charset="0"/>
                <a:cs typeface="Times New Roman" panose="02020603050405020304" pitchFamily="18" charset="0"/>
              </a:rPr>
              <a:t>MODULE 1:- </a:t>
            </a:r>
            <a:r>
              <a:rPr lang="en-IN" sz="3200" dirty="0">
                <a:solidFill>
                  <a:srgbClr val="C00000"/>
                </a:solidFill>
                <a:latin typeface="Times New Roman" panose="02020603050405020304" pitchFamily="18" charset="0"/>
                <a:cs typeface="Times New Roman" panose="02020603050405020304" pitchFamily="18" charset="0"/>
              </a:rPr>
              <a:t>Intelligent Sensing and Data                  Acquisition Module</a:t>
            </a:r>
            <a:endParaRPr sz="3200" b="1" dirty="0">
              <a:solidFill>
                <a:srgbClr val="C00000"/>
              </a:solidFill>
              <a:latin typeface="Times New Roman" panose="02020603050405020304" pitchFamily="18" charset="0"/>
              <a:cs typeface="Times New Roman" panose="02020603050405020304" pitchFamily="18" charset="0"/>
            </a:endParaRPr>
          </a:p>
        </p:txBody>
      </p:sp>
      <p:sp>
        <p:nvSpPr>
          <p:cNvPr id="159" name="Google Shape;159;p10"/>
          <p:cNvSpPr txBox="1">
            <a:spLocks noGrp="1"/>
          </p:cNvSpPr>
          <p:nvPr>
            <p:ph type="body" idx="1"/>
          </p:nvPr>
        </p:nvSpPr>
        <p:spPr>
          <a:xfrm>
            <a:off x="1" y="2297945"/>
            <a:ext cx="8268928" cy="3985240"/>
          </a:xfrm>
          <a:prstGeom prst="rect">
            <a:avLst/>
          </a:prstGeom>
          <a:noFill/>
          <a:ln>
            <a:noFill/>
          </a:ln>
        </p:spPr>
        <p:txBody>
          <a:bodyPr spcFirstLastPara="1" wrap="square" lIns="91425" tIns="45700" rIns="91425" bIns="45700" anchor="t" anchorCtr="0">
            <a:noAutofit/>
          </a:bodyPr>
          <a:lstStyle/>
          <a:p>
            <a:pPr marL="228600" lvl="0" indent="-76200">
              <a:lnSpc>
                <a:spcPct val="150000"/>
              </a:lnSpc>
              <a:buSzPts val="2400"/>
              <a:buNone/>
            </a:pPr>
            <a:r>
              <a:rPr lang="en-IN" sz="2400" b="1" dirty="0">
                <a:solidFill>
                  <a:srgbClr val="C00000"/>
                </a:solidFill>
                <a:latin typeface="Times New Roman" panose="02020603050405020304" pitchFamily="18" charset="0"/>
                <a:cs typeface="Times New Roman" panose="02020603050405020304" pitchFamily="18" charset="0"/>
              </a:rPr>
              <a:t>Purpose: </a:t>
            </a:r>
            <a:r>
              <a:rPr lang="en-IN" sz="2400" dirty="0">
                <a:solidFill>
                  <a:srgbClr val="C0000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Collects accurate environmental data from the surroundings.</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Integrates temperature and humidity sensors for environmental measurement.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Performs sensor calibration and data validation.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Converts raw sensor signals into digital data.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Provides reliable input data for AI processing. </a:t>
            </a:r>
          </a:p>
          <a:p>
            <a:pPr marL="228600" lvl="0" indent="-76200">
              <a:lnSpc>
                <a:spcPct val="150000"/>
              </a:lnSpc>
              <a:buSzPts val="2400"/>
              <a:buNone/>
            </a:pPr>
            <a:endParaRPr sz="2400" dirty="0">
              <a:latin typeface="Times New Roman" panose="02020603050405020304" pitchFamily="18" charset="0"/>
              <a:ea typeface="Times New Roman"/>
              <a:cs typeface="Times New Roman" panose="02020603050405020304" pitchFamily="18" charset="0"/>
              <a:sym typeface="Times New Roman"/>
            </a:endParaRPr>
          </a:p>
        </p:txBody>
      </p:sp>
      <p:pic>
        <p:nvPicPr>
          <p:cNvPr id="160" name="Google Shape;160;p10"/>
          <p:cNvPicPr preferRelativeResize="0"/>
          <p:nvPr/>
        </p:nvPicPr>
        <p:blipFill rotWithShape="1">
          <a:blip r:embed="rId3">
            <a:alphaModFix/>
          </a:blip>
          <a:srcRect/>
          <a:stretch/>
        </p:blipFill>
        <p:spPr>
          <a:xfrm>
            <a:off x="396002" y="230188"/>
            <a:ext cx="1135117" cy="1342884"/>
          </a:xfrm>
          <a:prstGeom prst="rect">
            <a:avLst/>
          </a:prstGeom>
          <a:noFill/>
          <a:ln>
            <a:noFill/>
          </a:ln>
        </p:spPr>
      </p:pic>
      <p:pic>
        <p:nvPicPr>
          <p:cNvPr id="161" name="Google Shape;161;p10"/>
          <p:cNvPicPr preferRelativeResize="0"/>
          <p:nvPr/>
        </p:nvPicPr>
        <p:blipFill rotWithShape="1">
          <a:blip r:embed="rId4">
            <a:alphaModFix/>
          </a:blip>
          <a:srcRect/>
          <a:stretch/>
        </p:blipFill>
        <p:spPr>
          <a:xfrm>
            <a:off x="10275884" y="230188"/>
            <a:ext cx="1520114" cy="1342884"/>
          </a:xfrm>
          <a:prstGeom prst="rect">
            <a:avLst/>
          </a:prstGeom>
          <a:noFill/>
          <a:ln>
            <a:noFill/>
          </a:ln>
        </p:spPr>
      </p:pic>
      <p:pic>
        <p:nvPicPr>
          <p:cNvPr id="5" name="Picture 4">
            <a:extLst>
              <a:ext uri="{FF2B5EF4-FFF2-40B4-BE49-F238E27FC236}">
                <a16:creationId xmlns:a16="http://schemas.microsoft.com/office/drawing/2014/main" id="{CA08B534-1AEF-7915-245E-C558FEB906F5}"/>
              </a:ext>
            </a:extLst>
          </p:cNvPr>
          <p:cNvPicPr>
            <a:picLocks noChangeAspect="1"/>
          </p:cNvPicPr>
          <p:nvPr/>
        </p:nvPicPr>
        <p:blipFill>
          <a:blip r:embed="rId5"/>
          <a:stretch>
            <a:fillRect/>
          </a:stretch>
        </p:blipFill>
        <p:spPr>
          <a:xfrm>
            <a:off x="7413523" y="2660381"/>
            <a:ext cx="4778476" cy="26097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3"/>
          <p:cNvSpPr txBox="1">
            <a:spLocks noGrp="1"/>
          </p:cNvSpPr>
          <p:nvPr>
            <p:ph type="title"/>
          </p:nvPr>
        </p:nvSpPr>
        <p:spPr>
          <a:xfrm>
            <a:off x="1940346" y="-352266"/>
            <a:ext cx="8000067" cy="2228193"/>
          </a:xfrm>
          <a:prstGeom prst="rect">
            <a:avLst/>
          </a:prstGeom>
          <a:noFill/>
          <a:ln>
            <a:noFill/>
          </a:ln>
        </p:spPr>
        <p:txBody>
          <a:bodyPr spcFirstLastPara="1" wrap="square" lIns="91425" tIns="45700" rIns="91425" bIns="45700" anchor="ctr" anchorCtr="0">
            <a:normAutofit/>
          </a:bodyPr>
          <a:lstStyle/>
          <a:p>
            <a:pPr>
              <a:buSzPts val="4400"/>
            </a:pPr>
            <a:r>
              <a:rPr lang="en-IN" sz="3200" b="1" dirty="0">
                <a:latin typeface="Times New Roman" panose="02020603050405020304" pitchFamily="18" charset="0"/>
                <a:cs typeface="Times New Roman" panose="02020603050405020304" pitchFamily="18" charset="0"/>
              </a:rPr>
              <a:t>MODULE 2:- </a:t>
            </a:r>
            <a:r>
              <a:rPr lang="en-IN" sz="3200" dirty="0">
                <a:solidFill>
                  <a:srgbClr val="C00000"/>
                </a:solidFill>
                <a:latin typeface="Times New Roman" panose="02020603050405020304" pitchFamily="18" charset="0"/>
                <a:cs typeface="Times New Roman" panose="02020603050405020304" pitchFamily="18" charset="0"/>
              </a:rPr>
              <a:t>AI-Based Data Processing and Prediction </a:t>
            </a:r>
            <a:endParaRPr sz="3200" dirty="0">
              <a:latin typeface="Times New Roman" panose="02020603050405020304" pitchFamily="18" charset="0"/>
              <a:cs typeface="Times New Roman" panose="02020603050405020304" pitchFamily="18" charset="0"/>
            </a:endParaRPr>
          </a:p>
        </p:txBody>
      </p:sp>
      <p:sp>
        <p:nvSpPr>
          <p:cNvPr id="204" name="Google Shape;204;p13"/>
          <p:cNvSpPr txBox="1">
            <a:spLocks noGrp="1"/>
          </p:cNvSpPr>
          <p:nvPr>
            <p:ph type="body" idx="1"/>
          </p:nvPr>
        </p:nvSpPr>
        <p:spPr>
          <a:xfrm>
            <a:off x="0" y="2137220"/>
            <a:ext cx="8436077" cy="3410124"/>
          </a:xfrm>
          <a:prstGeom prst="rect">
            <a:avLst/>
          </a:prstGeom>
          <a:noFill/>
          <a:ln>
            <a:noFill/>
          </a:ln>
        </p:spPr>
        <p:txBody>
          <a:bodyPr spcFirstLastPara="1" wrap="square" lIns="91425" tIns="45700" rIns="91425" bIns="45700" anchor="ctr" anchorCtr="0">
            <a:spAutoFit/>
          </a:bodyPr>
          <a:lstStyle/>
          <a:p>
            <a:pPr marL="114300" indent="0">
              <a:buNone/>
            </a:pPr>
            <a:r>
              <a:rPr lang="en-IN" sz="2400" b="1" dirty="0">
                <a:solidFill>
                  <a:srgbClr val="C00000"/>
                </a:solidFill>
                <a:latin typeface="Times New Roman" panose="02020603050405020304" pitchFamily="18" charset="0"/>
                <a:cs typeface="Times New Roman" panose="02020603050405020304" pitchFamily="18" charset="0"/>
              </a:rPr>
              <a:t>Purpose:</a:t>
            </a:r>
            <a:r>
              <a:rPr lang="en-IN" sz="2400" dirty="0">
                <a:solidFill>
                  <a:srgbClr val="C0000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Converts sensor data into intelligent insights.</a:t>
            </a:r>
          </a:p>
          <a:p>
            <a:pPr marL="114300" indent="0">
              <a:buNone/>
            </a:pPr>
            <a:endParaRPr lang="en-IN" sz="24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Applies machine learning algorithms for data analysis.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Identifies abnormal temperature and humidity patterns.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Predicts future environmental changes using historical data.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Generates intelligent decisions based on sensor trends. </a:t>
            </a:r>
          </a:p>
          <a:p>
            <a:pPr marL="342900" marR="0" lvl="0" algn="just" rtl="0">
              <a:lnSpc>
                <a:spcPct val="150000"/>
              </a:lnSpc>
              <a:spcBef>
                <a:spcPts val="0"/>
              </a:spcBef>
              <a:spcAft>
                <a:spcPts val="0"/>
              </a:spcAft>
              <a:buClr>
                <a:schemeClr val="dk1"/>
              </a:buClr>
              <a:buSzPts val="2400"/>
              <a:buFont typeface="Wingdings" panose="05000000000000000000" pitchFamily="2" charset="2"/>
              <a:buChar char="q"/>
            </a:pPr>
            <a:endParaRPr sz="24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205" name="Google Shape;205;p13"/>
          <p:cNvPicPr preferRelativeResize="0"/>
          <p:nvPr/>
        </p:nvPicPr>
        <p:blipFill rotWithShape="1">
          <a:blip r:embed="rId3">
            <a:alphaModFix/>
          </a:blip>
          <a:srcRect/>
          <a:stretch/>
        </p:blipFill>
        <p:spPr>
          <a:xfrm>
            <a:off x="388620" y="370205"/>
            <a:ext cx="1135380" cy="1343025"/>
          </a:xfrm>
          <a:prstGeom prst="rect">
            <a:avLst/>
          </a:prstGeom>
          <a:noFill/>
          <a:ln>
            <a:noFill/>
          </a:ln>
        </p:spPr>
      </p:pic>
      <p:pic>
        <p:nvPicPr>
          <p:cNvPr id="206" name="Google Shape;206;p13"/>
          <p:cNvPicPr preferRelativeResize="0"/>
          <p:nvPr/>
        </p:nvPicPr>
        <p:blipFill rotWithShape="1">
          <a:blip r:embed="rId4">
            <a:alphaModFix/>
          </a:blip>
          <a:srcRect/>
          <a:stretch/>
        </p:blipFill>
        <p:spPr>
          <a:xfrm>
            <a:off x="10158095" y="219808"/>
            <a:ext cx="1520190" cy="1343025"/>
          </a:xfrm>
          <a:prstGeom prst="rect">
            <a:avLst/>
          </a:prstGeom>
          <a:noFill/>
          <a:ln>
            <a:noFill/>
          </a:ln>
        </p:spPr>
      </p:pic>
      <p:pic>
        <p:nvPicPr>
          <p:cNvPr id="3" name="Picture 2">
            <a:extLst>
              <a:ext uri="{FF2B5EF4-FFF2-40B4-BE49-F238E27FC236}">
                <a16:creationId xmlns:a16="http://schemas.microsoft.com/office/drawing/2014/main" id="{856F686D-DA6A-7351-6269-97D1ED63E57E}"/>
              </a:ext>
            </a:extLst>
          </p:cNvPr>
          <p:cNvPicPr>
            <a:picLocks noChangeAspect="1"/>
          </p:cNvPicPr>
          <p:nvPr/>
        </p:nvPicPr>
        <p:blipFill>
          <a:blip r:embed="rId5"/>
          <a:srcRect b="27101"/>
          <a:stretch>
            <a:fillRect/>
          </a:stretch>
        </p:blipFill>
        <p:spPr>
          <a:xfrm>
            <a:off x="8042786" y="1875928"/>
            <a:ext cx="4149213" cy="36714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4"/>
          <p:cNvSpPr txBox="1">
            <a:spLocks noGrp="1"/>
          </p:cNvSpPr>
          <p:nvPr>
            <p:ph type="title"/>
          </p:nvPr>
        </p:nvSpPr>
        <p:spPr>
          <a:xfrm>
            <a:off x="1312882" y="1124608"/>
            <a:ext cx="8540414" cy="910670"/>
          </a:xfrm>
          <a:prstGeom prst="rect">
            <a:avLst/>
          </a:prstGeom>
          <a:noFill/>
          <a:ln>
            <a:noFill/>
          </a:ln>
        </p:spPr>
        <p:txBody>
          <a:bodyPr spcFirstLastPara="1" wrap="square" lIns="91425" tIns="45700" rIns="91425" bIns="45700" anchor="ctr" anchorCtr="0">
            <a:normAutofit/>
          </a:bodyPr>
          <a:lstStyle/>
          <a:p>
            <a:pPr algn="ctr">
              <a:buSzPts val="4400"/>
            </a:pPr>
            <a:r>
              <a:rPr lang="en-IN" sz="3200" b="1" dirty="0">
                <a:latin typeface="Times New Roman" panose="02020603050405020304" pitchFamily="18" charset="0"/>
                <a:cs typeface="Times New Roman" panose="02020603050405020304" pitchFamily="18" charset="0"/>
              </a:rPr>
              <a:t>MODULE 3</a:t>
            </a:r>
            <a:r>
              <a:rPr lang="en-IN" sz="3200" dirty="0">
                <a:latin typeface="Times New Roman" panose="02020603050405020304" pitchFamily="18" charset="0"/>
                <a:cs typeface="Times New Roman" panose="02020603050405020304" pitchFamily="18" charset="0"/>
              </a:rPr>
              <a:t>- </a:t>
            </a:r>
            <a:r>
              <a:rPr lang="en-IN" sz="3200" dirty="0">
                <a:solidFill>
                  <a:srgbClr val="C00000"/>
                </a:solidFill>
                <a:latin typeface="Times New Roman" panose="02020603050405020304" pitchFamily="18" charset="0"/>
                <a:cs typeface="Times New Roman" panose="02020603050405020304" pitchFamily="18" charset="0"/>
              </a:rPr>
              <a:t>IoT Cloud Monitoring and Alert </a:t>
            </a:r>
            <a:endParaRPr sz="3200" dirty="0">
              <a:solidFill>
                <a:srgbClr val="C00000"/>
              </a:solidFill>
              <a:latin typeface="Times New Roman" panose="02020603050405020304" pitchFamily="18" charset="0"/>
              <a:cs typeface="Times New Roman" panose="02020603050405020304" pitchFamily="18" charset="0"/>
            </a:endParaRPr>
          </a:p>
        </p:txBody>
      </p:sp>
      <p:sp>
        <p:nvSpPr>
          <p:cNvPr id="213" name="Google Shape;213;p14"/>
          <p:cNvSpPr txBox="1">
            <a:spLocks noGrp="1"/>
          </p:cNvSpPr>
          <p:nvPr>
            <p:ph type="body" idx="1"/>
          </p:nvPr>
        </p:nvSpPr>
        <p:spPr>
          <a:xfrm>
            <a:off x="-88830" y="2274122"/>
            <a:ext cx="8903173" cy="4732537"/>
          </a:xfrm>
          <a:prstGeom prst="rect">
            <a:avLst/>
          </a:prstGeom>
          <a:noFill/>
          <a:ln>
            <a:noFill/>
          </a:ln>
        </p:spPr>
        <p:txBody>
          <a:bodyPr spcFirstLastPara="1" wrap="square" lIns="91425" tIns="45700" rIns="91425" bIns="45700" anchor="ctr" anchorCtr="0">
            <a:spAutoFit/>
          </a:bodyPr>
          <a:lstStyle/>
          <a:p>
            <a:pPr marL="114300" indent="0">
              <a:buNone/>
            </a:pPr>
            <a:r>
              <a:rPr lang="en-IN" b="1" dirty="0">
                <a:solidFill>
                  <a:srgbClr val="FF0000"/>
                </a:solidFill>
                <a:latin typeface="Times New Roman" panose="02020603050405020304" pitchFamily="18" charset="0"/>
                <a:cs typeface="Times New Roman" panose="02020603050405020304" pitchFamily="18" charset="0"/>
              </a:rPr>
              <a:t>Purpose:</a:t>
            </a:r>
            <a:r>
              <a:rPr lang="en-IN" dirty="0">
                <a:solidFill>
                  <a:srgbClr val="FF000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Enables remote access and real-time response.</a:t>
            </a:r>
          </a:p>
          <a:p>
            <a:pPr>
              <a:buFont typeface="Wingdings" panose="05000000000000000000" pitchFamily="2" charset="2"/>
              <a:buChar char="q"/>
            </a:pPr>
            <a:endParaRPr lang="en-IN" sz="24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Transfers processed data through IoT communication.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Stores real-time and historical data in the cloud.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Provides web/mobile dashboard visualization.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Generates automatic alerts during critical conditions. </a:t>
            </a:r>
          </a:p>
          <a:p>
            <a:pPr marL="114300" indent="0">
              <a:buNone/>
            </a:pP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R="0" lvl="0" indent="-457200" algn="l" rtl="0">
              <a:lnSpc>
                <a:spcPct val="200000"/>
              </a:lnSpc>
              <a:spcBef>
                <a:spcPts val="0"/>
              </a:spcBef>
              <a:spcAft>
                <a:spcPts val="0"/>
              </a:spcAft>
              <a:buClr>
                <a:schemeClr val="dk1"/>
              </a:buClr>
              <a:buSzPts val="2400"/>
              <a:buFont typeface="Wingdings" panose="05000000000000000000" pitchFamily="2" charset="2"/>
              <a:buChar char="q"/>
            </a:pPr>
            <a:endParaRPr dirty="0">
              <a:latin typeface="Times New Roman" panose="02020603050405020304" pitchFamily="18" charset="0"/>
              <a:cs typeface="Times New Roman" panose="02020603050405020304" pitchFamily="18" charset="0"/>
            </a:endParaRPr>
          </a:p>
        </p:txBody>
      </p:sp>
      <p:pic>
        <p:nvPicPr>
          <p:cNvPr id="214" name="Google Shape;214;p14"/>
          <p:cNvPicPr preferRelativeResize="0"/>
          <p:nvPr/>
        </p:nvPicPr>
        <p:blipFill rotWithShape="1">
          <a:blip r:embed="rId3">
            <a:alphaModFix/>
          </a:blip>
          <a:srcRect/>
          <a:stretch/>
        </p:blipFill>
        <p:spPr>
          <a:xfrm>
            <a:off x="388620" y="370205"/>
            <a:ext cx="1135380" cy="1343025"/>
          </a:xfrm>
          <a:prstGeom prst="rect">
            <a:avLst/>
          </a:prstGeom>
          <a:noFill/>
          <a:ln>
            <a:noFill/>
          </a:ln>
        </p:spPr>
      </p:pic>
      <p:pic>
        <p:nvPicPr>
          <p:cNvPr id="215" name="Google Shape;215;p14"/>
          <p:cNvPicPr preferRelativeResize="0"/>
          <p:nvPr/>
        </p:nvPicPr>
        <p:blipFill rotWithShape="1">
          <a:blip r:embed="rId4">
            <a:alphaModFix/>
          </a:blip>
          <a:srcRect/>
          <a:stretch/>
        </p:blipFill>
        <p:spPr>
          <a:xfrm>
            <a:off x="10158095" y="219808"/>
            <a:ext cx="1520190" cy="1343025"/>
          </a:xfrm>
          <a:prstGeom prst="rect">
            <a:avLst/>
          </a:prstGeom>
          <a:noFill/>
          <a:ln>
            <a:noFill/>
          </a:ln>
        </p:spPr>
      </p:pic>
      <p:pic>
        <p:nvPicPr>
          <p:cNvPr id="3" name="Picture 2">
            <a:extLst>
              <a:ext uri="{FF2B5EF4-FFF2-40B4-BE49-F238E27FC236}">
                <a16:creationId xmlns:a16="http://schemas.microsoft.com/office/drawing/2014/main" id="{48902CC8-0AEE-50D9-3450-818462F65996}"/>
              </a:ext>
            </a:extLst>
          </p:cNvPr>
          <p:cNvPicPr>
            <a:picLocks noChangeAspect="1"/>
          </p:cNvPicPr>
          <p:nvPr/>
        </p:nvPicPr>
        <p:blipFill>
          <a:blip r:embed="rId5"/>
          <a:stretch>
            <a:fillRect/>
          </a:stretch>
        </p:blipFill>
        <p:spPr>
          <a:xfrm>
            <a:off x="7767484" y="2317235"/>
            <a:ext cx="4424516" cy="35406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2"/>
          <p:cNvSpPr txBox="1">
            <a:spLocks noGrp="1"/>
          </p:cNvSpPr>
          <p:nvPr>
            <p:ph type="title"/>
          </p:nvPr>
        </p:nvSpPr>
        <p:spPr>
          <a:xfrm>
            <a:off x="2623855" y="406175"/>
            <a:ext cx="8326821" cy="1342884"/>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Advantages</a:t>
            </a:r>
            <a:endParaRPr dirty="0">
              <a:latin typeface="Times New Roman" panose="02020603050405020304" pitchFamily="18" charset="0"/>
              <a:cs typeface="Times New Roman" panose="02020603050405020304" pitchFamily="18" charset="0"/>
            </a:endParaRPr>
          </a:p>
        </p:txBody>
      </p:sp>
      <p:sp>
        <p:nvSpPr>
          <p:cNvPr id="181" name="Google Shape;181;p12"/>
          <p:cNvSpPr txBox="1">
            <a:spLocks noGrp="1"/>
          </p:cNvSpPr>
          <p:nvPr>
            <p:ph type="body" idx="1"/>
          </p:nvPr>
        </p:nvSpPr>
        <p:spPr>
          <a:xfrm>
            <a:off x="749384" y="1827945"/>
            <a:ext cx="11046614" cy="5030055"/>
          </a:xfrm>
          <a:prstGeom prst="rect">
            <a:avLst/>
          </a:prstGeom>
          <a:noFill/>
          <a:ln>
            <a:noFill/>
          </a:ln>
        </p:spPr>
        <p:txBody>
          <a:bodyPr spcFirstLastPara="1" wrap="square" lIns="91425" tIns="45700" rIns="91425" bIns="45700" anchor="ctr" anchorCtr="0">
            <a:spAutoFit/>
          </a:bodyPr>
          <a:lstStyle/>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Intelligent Environmental Prediction</a:t>
            </a:r>
            <a:r>
              <a:rPr lang="en-IN" sz="2400" dirty="0">
                <a:latin typeface="Times New Roman" panose="02020603050405020304" pitchFamily="18" charset="0"/>
                <a:cs typeface="Times New Roman" panose="02020603050405020304" pitchFamily="18" charset="0"/>
              </a:rPr>
              <a:t> – Uses AI models to predict future temperature and humidity changes before problems occur.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Self-Learning Capability</a:t>
            </a:r>
            <a:r>
              <a:rPr lang="en-IN" sz="2400" dirty="0">
                <a:latin typeface="Times New Roman" panose="02020603050405020304" pitchFamily="18" charset="0"/>
                <a:cs typeface="Times New Roman" panose="02020603050405020304" pitchFamily="18" charset="0"/>
              </a:rPr>
              <a:t> – Improves accuracy over time by learning from historical environmental data.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Proactive Monitoring</a:t>
            </a:r>
            <a:r>
              <a:rPr lang="en-IN" sz="2400" dirty="0">
                <a:latin typeface="Times New Roman" panose="02020603050405020304" pitchFamily="18" charset="0"/>
                <a:cs typeface="Times New Roman" panose="02020603050405020304" pitchFamily="18" charset="0"/>
              </a:rPr>
              <a:t> – Detects risks early and enables preventive actions instead of only reacting to failures.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Smart Decision Support</a:t>
            </a:r>
            <a:r>
              <a:rPr lang="en-IN" sz="2400" dirty="0">
                <a:latin typeface="Times New Roman" panose="02020603050405020304" pitchFamily="18" charset="0"/>
                <a:cs typeface="Times New Roman" panose="02020603050405020304" pitchFamily="18" charset="0"/>
              </a:rPr>
              <a:t> – Converts raw sensor data into meaningful insights for better system control.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Real-Time Anomaly Identification</a:t>
            </a:r>
            <a:r>
              <a:rPr lang="en-IN" sz="2400" dirty="0">
                <a:latin typeface="Times New Roman" panose="02020603050405020304" pitchFamily="18" charset="0"/>
                <a:cs typeface="Times New Roman" panose="02020603050405020304" pitchFamily="18" charset="0"/>
              </a:rPr>
              <a:t> – Quickly recognizes unusual environmental patterns using AI-based analysis.</a:t>
            </a:r>
          </a:p>
          <a:p>
            <a:pPr marR="0" lvl="0" indent="-457200" algn="l" rtl="0">
              <a:lnSpc>
                <a:spcPct val="200000"/>
              </a:lnSpc>
              <a:spcBef>
                <a:spcPts val="0"/>
              </a:spcBef>
              <a:spcAft>
                <a:spcPts val="0"/>
              </a:spcAft>
              <a:buClr>
                <a:schemeClr val="dk1"/>
              </a:buClr>
              <a:buSzPts val="2400"/>
              <a:buFont typeface="Wingdings" panose="05000000000000000000" pitchFamily="2" charset="2"/>
              <a:buChar char="q"/>
            </a:pPr>
            <a:endParaRPr dirty="0">
              <a:latin typeface="Times New Roman" panose="02020603050405020304" pitchFamily="18" charset="0"/>
              <a:cs typeface="Times New Roman" panose="02020603050405020304" pitchFamily="18" charset="0"/>
            </a:endParaRPr>
          </a:p>
        </p:txBody>
      </p:sp>
      <p:pic>
        <p:nvPicPr>
          <p:cNvPr id="182" name="Google Shape;182;p12"/>
          <p:cNvPicPr preferRelativeResize="0"/>
          <p:nvPr/>
        </p:nvPicPr>
        <p:blipFill rotWithShape="1">
          <a:blip r:embed="rId3">
            <a:alphaModFix/>
          </a:blip>
          <a:srcRect/>
          <a:stretch/>
        </p:blipFill>
        <p:spPr>
          <a:xfrm>
            <a:off x="396002" y="230188"/>
            <a:ext cx="1135117" cy="1342884"/>
          </a:xfrm>
          <a:prstGeom prst="rect">
            <a:avLst/>
          </a:prstGeom>
          <a:noFill/>
          <a:ln>
            <a:noFill/>
          </a:ln>
        </p:spPr>
      </p:pic>
      <p:pic>
        <p:nvPicPr>
          <p:cNvPr id="183" name="Google Shape;183;p12"/>
          <p:cNvPicPr preferRelativeResize="0"/>
          <p:nvPr/>
        </p:nvPicPr>
        <p:blipFill rotWithShape="1">
          <a:blip r:embed="rId4">
            <a:alphaModFix/>
          </a:blip>
          <a:srcRect/>
          <a:stretch/>
        </p:blipFill>
        <p:spPr>
          <a:xfrm>
            <a:off x="10275884" y="230188"/>
            <a:ext cx="1520114" cy="13428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1848465" y="365125"/>
            <a:ext cx="5708473" cy="1670152"/>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Future Scope</a:t>
            </a:r>
            <a:endParaRPr b="1" dirty="0">
              <a:latin typeface="Times New Roman" panose="02020603050405020304" pitchFamily="18" charset="0"/>
              <a:cs typeface="Times New Roman" panose="02020603050405020304" pitchFamily="18" charset="0"/>
            </a:endParaRPr>
          </a:p>
        </p:txBody>
      </p:sp>
      <p:pic>
        <p:nvPicPr>
          <p:cNvPr id="221" name="Google Shape;221;p15"/>
          <p:cNvPicPr preferRelativeResize="0"/>
          <p:nvPr/>
        </p:nvPicPr>
        <p:blipFill rotWithShape="1">
          <a:blip r:embed="rId3">
            <a:alphaModFix/>
          </a:blip>
          <a:srcRect/>
          <a:stretch/>
        </p:blipFill>
        <p:spPr>
          <a:xfrm>
            <a:off x="388620" y="370205"/>
            <a:ext cx="1135380" cy="1343025"/>
          </a:xfrm>
          <a:prstGeom prst="rect">
            <a:avLst/>
          </a:prstGeom>
          <a:noFill/>
          <a:ln>
            <a:noFill/>
          </a:ln>
        </p:spPr>
      </p:pic>
      <p:pic>
        <p:nvPicPr>
          <p:cNvPr id="222" name="Google Shape;222;p15"/>
          <p:cNvPicPr preferRelativeResize="0"/>
          <p:nvPr/>
        </p:nvPicPr>
        <p:blipFill rotWithShape="1">
          <a:blip r:embed="rId4">
            <a:alphaModFix/>
          </a:blip>
          <a:srcRect/>
          <a:stretch/>
        </p:blipFill>
        <p:spPr>
          <a:xfrm>
            <a:off x="10158095" y="219808"/>
            <a:ext cx="1520190" cy="1343025"/>
          </a:xfrm>
          <a:prstGeom prst="rect">
            <a:avLst/>
          </a:prstGeom>
          <a:noFill/>
          <a:ln>
            <a:noFill/>
          </a:ln>
        </p:spPr>
      </p:pic>
      <p:sp>
        <p:nvSpPr>
          <p:cNvPr id="223" name="Google Shape;223;p15"/>
          <p:cNvSpPr txBox="1">
            <a:spLocks noGrp="1"/>
          </p:cNvSpPr>
          <p:nvPr>
            <p:ph type="body" idx="1"/>
          </p:nvPr>
        </p:nvSpPr>
        <p:spPr>
          <a:xfrm>
            <a:off x="512575" y="1946639"/>
            <a:ext cx="10805328" cy="4820767"/>
          </a:xfrm>
          <a:prstGeom prst="rect">
            <a:avLst/>
          </a:prstGeom>
          <a:noFill/>
          <a:ln>
            <a:noFill/>
          </a:ln>
        </p:spPr>
        <p:txBody>
          <a:bodyPr spcFirstLastPara="1" wrap="square" lIns="91425" tIns="45700" rIns="91425" bIns="45700" anchor="ctr" anchorCtr="0">
            <a:spAutoFit/>
          </a:bodyPr>
          <a:lstStyle/>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Advanced AI Models Integration</a:t>
            </a:r>
            <a:r>
              <a:rPr lang="en-IN" sz="2400" dirty="0">
                <a:latin typeface="Times New Roman" panose="02020603050405020304" pitchFamily="18" charset="0"/>
                <a:cs typeface="Times New Roman" panose="02020603050405020304" pitchFamily="18" charset="0"/>
              </a:rPr>
              <a:t> – Future systems can use deep learning algorithms to improve prediction accuracy and environmental analysis.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Multi-Parameter Monitoring</a:t>
            </a:r>
            <a:r>
              <a:rPr lang="en-IN" sz="2400" dirty="0">
                <a:latin typeface="Times New Roman" panose="02020603050405020304" pitchFamily="18" charset="0"/>
                <a:cs typeface="Times New Roman" panose="02020603050405020304" pitchFamily="18" charset="0"/>
              </a:rPr>
              <a:t> – Additional sensors can be integrated to monitor air quality, pressure, light intensity, gas levels, and other environmental factors.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Edge AI Processing</a:t>
            </a:r>
            <a:r>
              <a:rPr lang="en-IN" sz="2400" dirty="0">
                <a:latin typeface="Times New Roman" panose="02020603050405020304" pitchFamily="18" charset="0"/>
                <a:cs typeface="Times New Roman" panose="02020603050405020304" pitchFamily="18" charset="0"/>
              </a:rPr>
              <a:t> – AI computation can be moved closer to the sensor using edge devices for faster response and reduced cloud dependency.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Smart Automation Integration</a:t>
            </a:r>
            <a:r>
              <a:rPr lang="en-IN" sz="2400" dirty="0">
                <a:latin typeface="Times New Roman" panose="02020603050405020304" pitchFamily="18" charset="0"/>
                <a:cs typeface="Times New Roman" panose="02020603050405020304" pitchFamily="18" charset="0"/>
              </a:rPr>
              <a:t> – The system can automatically control devices such as fans, air conditioners, and ventilation systems based on environmental conditions.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Mobile Application Enhancement</a:t>
            </a:r>
            <a:r>
              <a:rPr lang="en-IN" sz="2400" dirty="0">
                <a:latin typeface="Times New Roman" panose="02020603050405020304" pitchFamily="18" charset="0"/>
                <a:cs typeface="Times New Roman" panose="02020603050405020304" pitchFamily="18" charset="0"/>
              </a:rPr>
              <a:t> – Advanced mobile apps can provide real-time analytics, reports, and intelligent recommendations.</a:t>
            </a:r>
          </a:p>
          <a:p>
            <a:pPr marL="342900" lvl="0">
              <a:lnSpc>
                <a:spcPct val="100000"/>
              </a:lnSpc>
              <a:spcBef>
                <a:spcPts val="0"/>
              </a:spcBef>
              <a:buSzPts val="2400"/>
              <a:buFont typeface="Wingdings" panose="05000000000000000000" pitchFamily="2" charset="2"/>
              <a:buChar char="q"/>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AFBA-E702-E385-8078-500236841FB0}"/>
              </a:ext>
            </a:extLst>
          </p:cNvPr>
          <p:cNvSpPr>
            <a:spLocks noGrp="1"/>
          </p:cNvSpPr>
          <p:nvPr>
            <p:ph type="title"/>
          </p:nvPr>
        </p:nvSpPr>
        <p:spPr>
          <a:xfrm>
            <a:off x="1877960" y="365125"/>
            <a:ext cx="9475839" cy="1325563"/>
          </a:xfrm>
        </p:spPr>
        <p:txBody>
          <a:bodyPr/>
          <a:lstStyle/>
          <a:p>
            <a:r>
              <a:rPr lang="en-IN" b="1" dirty="0">
                <a:latin typeface="Times New Roman" panose="02020603050405020304" pitchFamily="18" charset="0"/>
                <a:cs typeface="Times New Roman" panose="02020603050405020304" pitchFamily="18" charset="0"/>
              </a:rPr>
              <a:t>Results And Discussion</a:t>
            </a:r>
          </a:p>
        </p:txBody>
      </p:sp>
      <p:sp>
        <p:nvSpPr>
          <p:cNvPr id="3" name="Text Placeholder 2">
            <a:extLst>
              <a:ext uri="{FF2B5EF4-FFF2-40B4-BE49-F238E27FC236}">
                <a16:creationId xmlns:a16="http://schemas.microsoft.com/office/drawing/2014/main" id="{937657E1-4778-7153-7B67-1FE3EB5B0F4C}"/>
              </a:ext>
            </a:extLst>
          </p:cNvPr>
          <p:cNvSpPr>
            <a:spLocks noGrp="1"/>
          </p:cNvSpPr>
          <p:nvPr>
            <p:ph type="body" idx="1"/>
          </p:nvPr>
        </p:nvSpPr>
        <p:spPr/>
        <p:txBody>
          <a:bodyPr>
            <a:normAutofit/>
          </a:bodyPr>
          <a:lstStyle/>
          <a:p>
            <a:pPr>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The </a:t>
            </a:r>
            <a:r>
              <a:rPr lang="en-IN" sz="2400" b="1" dirty="0">
                <a:solidFill>
                  <a:srgbClr val="FF0000"/>
                </a:solidFill>
                <a:latin typeface="Times New Roman" panose="02020603050405020304" pitchFamily="18" charset="0"/>
                <a:cs typeface="Times New Roman" panose="02020603050405020304" pitchFamily="18" charset="0"/>
              </a:rPr>
              <a:t>AI-Powered Smart Sensor for Temperature and Humidity Monitoring</a:t>
            </a:r>
            <a:r>
              <a:rPr lang="en-IN" sz="2400" dirty="0">
                <a:solidFill>
                  <a:srgbClr val="FF000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successfully provides real-time environmental monitoring with accurate data collection and AI-based analysis. </a:t>
            </a:r>
          </a:p>
          <a:p>
            <a:pPr marL="114300" indent="0">
              <a:buNone/>
            </a:pPr>
            <a:endParaRPr lang="en-IN" sz="24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Real-time temperature and humidity monitoring achieved.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Accurate sensor data collection and processing.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AI-based prediction and anomaly detection implemented.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Instant alerts generated during critical conditions. </a:t>
            </a:r>
          </a:p>
          <a:p>
            <a:pPr lvl="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Remote monitoring through dashboard enabled.</a:t>
            </a:r>
          </a:p>
          <a:p>
            <a:pPr>
              <a:buFont typeface="Wingdings" panose="05000000000000000000" pitchFamily="2" charset="2"/>
              <a:buChar char="q"/>
            </a:pPr>
            <a:endParaRPr lang="en-IN" sz="2400" dirty="0">
              <a:latin typeface="Times New Roman" panose="02020603050405020304" pitchFamily="18" charset="0"/>
              <a:cs typeface="Times New Roman" panose="02020603050405020304" pitchFamily="18" charset="0"/>
            </a:endParaRPr>
          </a:p>
        </p:txBody>
      </p:sp>
      <p:pic>
        <p:nvPicPr>
          <p:cNvPr id="5" name="Google Shape;221;p15">
            <a:extLst>
              <a:ext uri="{FF2B5EF4-FFF2-40B4-BE49-F238E27FC236}">
                <a16:creationId xmlns:a16="http://schemas.microsoft.com/office/drawing/2014/main" id="{E519768E-8FAE-A95A-03C3-0B06D1ED3153}"/>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7" name="Google Shape;222;p15">
            <a:extLst>
              <a:ext uri="{FF2B5EF4-FFF2-40B4-BE49-F238E27FC236}">
                <a16:creationId xmlns:a16="http://schemas.microsoft.com/office/drawing/2014/main" id="{72A30F8B-C075-5288-2E43-27A363C6E3A9}"/>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1372181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49618-9BA7-708E-7DCC-8FCAA61332EF}"/>
              </a:ext>
            </a:extLst>
          </p:cNvPr>
          <p:cNvSpPr>
            <a:spLocks noGrp="1"/>
          </p:cNvSpPr>
          <p:nvPr>
            <p:ph type="title"/>
          </p:nvPr>
        </p:nvSpPr>
        <p:spPr>
          <a:xfrm>
            <a:off x="1917290" y="365125"/>
            <a:ext cx="9436510" cy="1325563"/>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803844F7-198E-FE21-F365-467F484216E8}"/>
              </a:ext>
            </a:extLst>
          </p:cNvPr>
          <p:cNvSpPr>
            <a:spLocks noGrp="1"/>
          </p:cNvSpPr>
          <p:nvPr>
            <p:ph type="body" idx="1"/>
          </p:nvPr>
        </p:nvSpPr>
        <p:spPr/>
        <p:txBody>
          <a:bodyPr>
            <a:normAutofit/>
          </a:bodyPr>
          <a:lstStyle/>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AI + IoT Integration</a:t>
            </a:r>
            <a:r>
              <a:rPr lang="en-IN" sz="2400" dirty="0">
                <a:latin typeface="Times New Roman" panose="02020603050405020304" pitchFamily="18" charset="0"/>
                <a:cs typeface="Times New Roman" panose="02020603050405020304" pitchFamily="18" charset="0"/>
              </a:rPr>
              <a:t> – Combines intelligent analysis with smart sensing for advanced environmental monitoring.</a:t>
            </a:r>
            <a:r>
              <a:rPr lang="en-IN" sz="2400" b="1"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Autonomous Operation</a:t>
            </a:r>
            <a:r>
              <a:rPr lang="en-IN" sz="2400" dirty="0">
                <a:latin typeface="Times New Roman" panose="02020603050405020304" pitchFamily="18" charset="0"/>
                <a:cs typeface="Times New Roman" panose="02020603050405020304" pitchFamily="18" charset="0"/>
              </a:rPr>
              <a:t> – Reduces human involvement through automated monitoring and alert generation.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Future-Ready Architecture</a:t>
            </a:r>
            <a:r>
              <a:rPr lang="en-IN" sz="2400" dirty="0">
                <a:latin typeface="Times New Roman" panose="02020603050405020304" pitchFamily="18" charset="0"/>
                <a:cs typeface="Times New Roman" panose="02020603050405020304" pitchFamily="18" charset="0"/>
              </a:rPr>
              <a:t> – Supports advanced AI models, additional sensors, and large-scale deployment. </a:t>
            </a:r>
          </a:p>
          <a:p>
            <a:pPr lvl="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Real-World Impact</a:t>
            </a:r>
            <a:r>
              <a:rPr lang="en-IN" sz="2400" dirty="0">
                <a:latin typeface="Times New Roman" panose="02020603050405020304" pitchFamily="18" charset="0"/>
                <a:cs typeface="Times New Roman" panose="02020603050405020304" pitchFamily="18" charset="0"/>
              </a:rPr>
              <a:t> – Provides a practical solution for industries, agriculture, healthcare, and smart environments.</a:t>
            </a:r>
          </a:p>
          <a:p>
            <a:pPr>
              <a:buFont typeface="Wingdings" panose="05000000000000000000" pitchFamily="2" charset="2"/>
              <a:buChar char="q"/>
            </a:pPr>
            <a:endParaRPr lang="en-IN" sz="2400" dirty="0">
              <a:latin typeface="Times New Roman" panose="02020603050405020304" pitchFamily="18" charset="0"/>
              <a:cs typeface="Times New Roman" panose="02020603050405020304" pitchFamily="18" charset="0"/>
            </a:endParaRPr>
          </a:p>
        </p:txBody>
      </p:sp>
      <p:pic>
        <p:nvPicPr>
          <p:cNvPr id="5" name="Google Shape;221;p15">
            <a:extLst>
              <a:ext uri="{FF2B5EF4-FFF2-40B4-BE49-F238E27FC236}">
                <a16:creationId xmlns:a16="http://schemas.microsoft.com/office/drawing/2014/main" id="{8E8524DB-C499-B96C-2A9E-3415AD5C299C}"/>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7" name="Google Shape;222;p15">
            <a:extLst>
              <a:ext uri="{FF2B5EF4-FFF2-40B4-BE49-F238E27FC236}">
                <a16:creationId xmlns:a16="http://schemas.microsoft.com/office/drawing/2014/main" id="{C953BF58-2273-C6B9-D3BC-68C8B76330D7}"/>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2933454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1F67-9E22-335D-DE0B-09109F317211}"/>
              </a:ext>
            </a:extLst>
          </p:cNvPr>
          <p:cNvSpPr>
            <a:spLocks noGrp="1"/>
          </p:cNvSpPr>
          <p:nvPr>
            <p:ph type="title"/>
          </p:nvPr>
        </p:nvSpPr>
        <p:spPr>
          <a:xfrm>
            <a:off x="1681315" y="387667"/>
            <a:ext cx="9416845" cy="1325563"/>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891A12E7-42CC-46F9-066B-5055E24E8E2C}"/>
              </a:ext>
            </a:extLst>
          </p:cNvPr>
          <p:cNvSpPr>
            <a:spLocks noGrp="1"/>
          </p:cNvSpPr>
          <p:nvPr>
            <p:ph type="body" idx="1"/>
          </p:nvPr>
        </p:nvSpPr>
        <p:spPr/>
        <p:txBody>
          <a:bodyPr>
            <a:normAutofit fontScale="70000" lnSpcReduction="20000"/>
          </a:bodyPr>
          <a:lstStyle/>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2"/>
              </a:rPr>
              <a:t>Arduino Official Documentation</a:t>
            </a:r>
            <a:r>
              <a:rPr lang="en-IN" dirty="0">
                <a:latin typeface="Times New Roman" panose="02020603050405020304" pitchFamily="18" charset="0"/>
                <a:cs typeface="Times New Roman" panose="02020603050405020304" pitchFamily="18" charset="0"/>
              </a:rPr>
              <a:t> – For microcontroller programming and sensor interfacing concepts. </a:t>
            </a:r>
          </a:p>
          <a:p>
            <a:pPr lvl="0">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hlinkClick r:id="rId3"/>
              </a:rPr>
              <a:t>Espressif</a:t>
            </a:r>
            <a:r>
              <a:rPr lang="en-IN" dirty="0">
                <a:latin typeface="Times New Roman" panose="02020603050405020304" pitchFamily="18" charset="0"/>
                <a:cs typeface="Times New Roman" panose="02020603050405020304" pitchFamily="18" charset="0"/>
                <a:hlinkClick r:id="rId3"/>
              </a:rPr>
              <a:t> ESP32 Documentation</a:t>
            </a:r>
            <a:r>
              <a:rPr lang="en-IN" dirty="0">
                <a:latin typeface="Times New Roman" panose="02020603050405020304" pitchFamily="18" charset="0"/>
                <a:cs typeface="Times New Roman" panose="02020603050405020304" pitchFamily="18" charset="0"/>
              </a:rPr>
              <a:t> – For ESP32 hardware, Wi-Fi communication, and IoT development. </a:t>
            </a:r>
          </a:p>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4"/>
              </a:rPr>
              <a:t>DHT Sensor Library Documentation</a:t>
            </a:r>
            <a:r>
              <a:rPr lang="en-IN" dirty="0">
                <a:latin typeface="Times New Roman" panose="02020603050405020304" pitchFamily="18" charset="0"/>
                <a:cs typeface="Times New Roman" panose="02020603050405020304" pitchFamily="18" charset="0"/>
              </a:rPr>
              <a:t> – For temperature and humidity sensor integration. </a:t>
            </a:r>
          </a:p>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5"/>
              </a:rPr>
              <a:t>TensorFlow Official Documentation</a:t>
            </a:r>
            <a:r>
              <a:rPr lang="en-IN" dirty="0">
                <a:latin typeface="Times New Roman" panose="02020603050405020304" pitchFamily="18" charset="0"/>
                <a:cs typeface="Times New Roman" panose="02020603050405020304" pitchFamily="18" charset="0"/>
              </a:rPr>
              <a:t> – For AI and machine learning model development. </a:t>
            </a:r>
          </a:p>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6"/>
              </a:rPr>
              <a:t>Firebase Documentation</a:t>
            </a:r>
            <a:r>
              <a:rPr lang="en-IN" dirty="0">
                <a:latin typeface="Times New Roman" panose="02020603050405020304" pitchFamily="18" charset="0"/>
                <a:cs typeface="Times New Roman" panose="02020603050405020304" pitchFamily="18" charset="0"/>
              </a:rPr>
              <a:t> – For cloud database and real-time data storage. </a:t>
            </a:r>
          </a:p>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7"/>
              </a:rPr>
              <a:t>Internet of Things (IoT) – IEEE Xplore</a:t>
            </a:r>
            <a:r>
              <a:rPr lang="en-IN" dirty="0">
                <a:latin typeface="Times New Roman" panose="02020603050405020304" pitchFamily="18" charset="0"/>
                <a:cs typeface="Times New Roman" panose="02020603050405020304" pitchFamily="18" charset="0"/>
              </a:rPr>
              <a:t> – Research papers related to IoT-based monitoring systems. </a:t>
            </a:r>
          </a:p>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8"/>
              </a:rPr>
              <a:t>Machine Learning – SpringerLink</a:t>
            </a:r>
            <a:r>
              <a:rPr lang="en-IN" dirty="0">
                <a:latin typeface="Times New Roman" panose="02020603050405020304" pitchFamily="18" charset="0"/>
                <a:cs typeface="Times New Roman" panose="02020603050405020304" pitchFamily="18" charset="0"/>
              </a:rPr>
              <a:t> – Research studies on AI-based prediction and anomaly detection. </a:t>
            </a:r>
          </a:p>
          <a:p>
            <a:pPr lvl="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hlinkClick r:id="rId9"/>
              </a:rPr>
              <a:t>Cloud Computing and IoT Research – ScienceDirect</a:t>
            </a:r>
            <a:r>
              <a:rPr lang="en-IN" dirty="0">
                <a:latin typeface="Times New Roman" panose="02020603050405020304" pitchFamily="18" charset="0"/>
                <a:cs typeface="Times New Roman" panose="02020603050405020304" pitchFamily="18" charset="0"/>
              </a:rPr>
              <a:t> – Technical references for cloud-based smart monitoring systems. </a:t>
            </a:r>
          </a:p>
          <a:p>
            <a:pPr>
              <a:buFont typeface="Wingdings" panose="05000000000000000000" pitchFamily="2" charset="2"/>
              <a:buChar char="q"/>
            </a:pPr>
            <a:endParaRPr lang="en-IN" sz="3400" dirty="0">
              <a:latin typeface="Times New Roman" panose="02020603050405020304" pitchFamily="18" charset="0"/>
              <a:cs typeface="Times New Roman" panose="02020603050405020304" pitchFamily="18" charset="0"/>
            </a:endParaRPr>
          </a:p>
        </p:txBody>
      </p:sp>
      <p:pic>
        <p:nvPicPr>
          <p:cNvPr id="5" name="Google Shape;221;p15">
            <a:extLst>
              <a:ext uri="{FF2B5EF4-FFF2-40B4-BE49-F238E27FC236}">
                <a16:creationId xmlns:a16="http://schemas.microsoft.com/office/drawing/2014/main" id="{29E5519A-C32F-CF20-7AA0-34D461C9D357}"/>
              </a:ext>
            </a:extLst>
          </p:cNvPr>
          <p:cNvPicPr preferRelativeResize="0"/>
          <p:nvPr/>
        </p:nvPicPr>
        <p:blipFill rotWithShape="1">
          <a:blip r:embed="rId10">
            <a:alphaModFix/>
          </a:blip>
          <a:srcRect/>
          <a:stretch/>
        </p:blipFill>
        <p:spPr>
          <a:xfrm>
            <a:off x="388620" y="370205"/>
            <a:ext cx="1135380" cy="1343025"/>
          </a:xfrm>
          <a:prstGeom prst="rect">
            <a:avLst/>
          </a:prstGeom>
          <a:noFill/>
          <a:ln>
            <a:noFill/>
          </a:ln>
        </p:spPr>
      </p:pic>
      <p:pic>
        <p:nvPicPr>
          <p:cNvPr id="7" name="Google Shape;222;p15">
            <a:extLst>
              <a:ext uri="{FF2B5EF4-FFF2-40B4-BE49-F238E27FC236}">
                <a16:creationId xmlns:a16="http://schemas.microsoft.com/office/drawing/2014/main" id="{E83A0FFF-CF40-AE21-0352-A39E96928A15}"/>
              </a:ext>
            </a:extLst>
          </p:cNvPr>
          <p:cNvPicPr preferRelativeResize="0"/>
          <p:nvPr/>
        </p:nvPicPr>
        <p:blipFill rotWithShape="1">
          <a:blip r:embed="rId11">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1387719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a:buNone/>
            </a:pP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2D1C01B-804C-3FAF-DFB2-9A3BC903CC73}"/>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BIO HARI</Template>
  <TotalTime>290</TotalTime>
  <Words>867</Words>
  <Application>Microsoft Office PowerPoint</Application>
  <PresentationFormat>Widescreen</PresentationFormat>
  <Paragraphs>85</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AI-Powered Smart Sensor for Temperature  and Humidity Monitoring</vt:lpstr>
      <vt:lpstr>INTRODUCTION</vt:lpstr>
      <vt:lpstr>PowerPoint Presentation</vt:lpstr>
      <vt:lpstr>Objectives</vt:lpstr>
      <vt:lpstr>PowerPoint Presentation</vt:lpstr>
      <vt:lpstr>MODULE 1:- Intelligent Sensing and Data                  Acquisition Module</vt:lpstr>
      <vt:lpstr>MODULE 2:- AI-Based Data Processing and Prediction </vt:lpstr>
      <vt:lpstr>MODULE 3- IoT Cloud Monitoring and Alert </vt:lpstr>
      <vt:lpstr>Advantages</vt:lpstr>
      <vt:lpstr>Future Scope</vt:lpstr>
      <vt:lpstr>Results And Discussion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jalla yoganjulu reddy</dc:creator>
  <cp:lastModifiedBy>Dinesh Karthik</cp:lastModifiedBy>
  <cp:revision>1</cp:revision>
  <dcterms:created xsi:type="dcterms:W3CDTF">2026-07-26T12:42:17Z</dcterms:created>
  <dcterms:modified xsi:type="dcterms:W3CDTF">2026-08-26T04:35:44Z</dcterms:modified>
</cp:coreProperties>
</file>